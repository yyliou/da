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gplot2-book.org/getting-started.html" TargetMode="Externa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Chapter 3: Individual geoms</a:t>
            </a:r>
            <a:br/>
            <a:br/>
            <a:r>
              <a:rPr/>
              <a:t>Yu-You Liou (NTU)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2025-10-14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Basic plot types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Basic plot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geoms are the fundamental building blocks of </a:t>
            </a:r>
            <a:r>
              <a:rPr>
                <a:latin typeface="Courier"/>
              </a:rPr>
              <a:t>ggplot2</a:t>
            </a:r>
            <a:r>
              <a:rPr/>
              <a:t>. They are useful in their own right, but are also used to construct more complex geoms. Most of these geoms are associated with a named plot: when that geom is used by itself in a plot, that plot has a special name.</a:t>
            </a:r>
          </a:p>
          <a:p>
            <a:pPr lvl="0" indent="0" marL="0">
              <a:buNone/>
            </a:pPr>
            <a:r>
              <a:rPr/>
              <a:t>Each of these geoms is two dimensional and requires both </a:t>
            </a:r>
            <a:r>
              <a:rPr>
                <a:latin typeface="Courier"/>
              </a:rPr>
              <a:t>x</a:t>
            </a:r>
            <a:r>
              <a:rPr/>
              <a:t> and </a:t>
            </a:r>
            <a:r>
              <a:rPr>
                <a:latin typeface="Courier"/>
              </a:rPr>
              <a:t>y</a:t>
            </a:r>
            <a:r>
              <a:rPr/>
              <a:t> aesthetics. All of them understand </a:t>
            </a:r>
            <a:r>
              <a:rPr>
                <a:latin typeface="Courier"/>
              </a:rPr>
              <a:t>colour</a:t>
            </a:r>
            <a:r>
              <a:rPr/>
              <a:t> (or </a:t>
            </a:r>
            <a:r>
              <a:rPr>
                <a:latin typeface="Courier"/>
              </a:rPr>
              <a:t>color</a:t>
            </a:r>
            <a:r>
              <a:rPr/>
              <a:t>) and </a:t>
            </a:r>
            <a:r>
              <a:rPr>
                <a:latin typeface="Courier"/>
              </a:rPr>
              <a:t>size</a:t>
            </a:r>
            <a:r>
              <a:rPr/>
              <a:t> aesthetics, and the filled geoms (bar, tile and polygon) also understand </a:t>
            </a:r>
            <a:r>
              <a:rPr>
                <a:latin typeface="Courier"/>
              </a:rPr>
              <a:t>fill</a:t>
            </a:r>
            <a:r>
              <a:rPr/>
              <a:t>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geom_area()</a:t>
            </a:r>
            <a:r>
              <a:rPr/>
              <a:t> draws an </a:t>
            </a:r>
            <a:r>
              <a:rPr b="1"/>
              <a:t>area plot</a:t>
            </a:r>
            <a:r>
              <a:rPr/>
              <a:t>, which is a line plot filled to the y-axis (filled lines). Multiple groups will be stacked on top of each other.</a:t>
            </a:r>
          </a:p>
          <a:p>
            <a:pPr lvl="0"/>
            <a:r>
              <a:rPr>
                <a:latin typeface="Courier"/>
              </a:rPr>
              <a:t>geom_bar(stat = "identity")</a:t>
            </a:r>
            <a:r>
              <a:rPr/>
              <a:t> makes a </a:t>
            </a:r>
            <a:r>
              <a:rPr b="1"/>
              <a:t>bar chart</a:t>
            </a:r>
            <a:r>
              <a:rPr/>
              <a:t>. We need </a:t>
            </a:r>
            <a:r>
              <a:rPr>
                <a:latin typeface="Courier"/>
              </a:rPr>
              <a:t>stat = "identity"</a:t>
            </a:r>
            <a:r>
              <a:rPr/>
              <a:t> because the default stat automatically counts values (so is essentially a 1d geom, see Section 5.4). The identity stat leaves the data unchanged. Multiple bars in the same location will be stacked on top of one another.</a:t>
            </a:r>
          </a:p>
          <a:p>
            <a:pPr lvl="0"/>
            <a:r>
              <a:rPr>
                <a:latin typeface="Courier"/>
              </a:rPr>
              <a:t>geom_line()</a:t>
            </a:r>
            <a:r>
              <a:rPr/>
              <a:t> makes a </a:t>
            </a:r>
            <a:r>
              <a:rPr b="1"/>
              <a:t>line plot</a:t>
            </a:r>
            <a:r>
              <a:rPr/>
              <a:t>. The group aesthetic determines which observations are connected; see Chapter 4 for more detail. </a:t>
            </a:r>
            <a:r>
              <a:rPr>
                <a:latin typeface="Courier"/>
              </a:rPr>
              <a:t>geom_line()</a:t>
            </a:r>
            <a:r>
              <a:rPr/>
              <a:t> connects points from left to right; </a:t>
            </a:r>
            <a:r>
              <a:rPr>
                <a:latin typeface="Courier"/>
              </a:rPr>
              <a:t>geom_path()</a:t>
            </a:r>
            <a:r>
              <a:rPr/>
              <a:t> is similar but connects points in the order they appear in the data. Both </a:t>
            </a:r>
            <a:r>
              <a:rPr>
                <a:latin typeface="Courier"/>
              </a:rPr>
              <a:t>geom_line()</a:t>
            </a:r>
            <a:r>
              <a:rPr/>
              <a:t> and </a:t>
            </a:r>
            <a:r>
              <a:rPr>
                <a:latin typeface="Courier"/>
              </a:rPr>
              <a:t>geom_path()</a:t>
            </a:r>
            <a:r>
              <a:rPr/>
              <a:t> also understand the aesthetic linetype, which maps a categorical variable to solid, dotted and dashed lines.</a:t>
            </a:r>
          </a:p>
          <a:p>
            <a:pPr lvl="0"/>
            <a:r>
              <a:rPr>
                <a:latin typeface="Courier"/>
              </a:rPr>
              <a:t>geom_point()</a:t>
            </a:r>
            <a:r>
              <a:rPr/>
              <a:t> produces a </a:t>
            </a:r>
            <a:r>
              <a:rPr b="1"/>
              <a:t>scatterplot</a:t>
            </a:r>
            <a:r>
              <a:rPr/>
              <a:t>. </a:t>
            </a:r>
            <a:r>
              <a:rPr>
                <a:latin typeface="Courier"/>
              </a:rPr>
              <a:t>geom_point()</a:t>
            </a:r>
            <a:r>
              <a:rPr/>
              <a:t> also understands the shape aesthetic.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geom_polygon()</a:t>
            </a:r>
            <a:r>
              <a:rPr/>
              <a:t> draws </a:t>
            </a:r>
            <a:r>
              <a:rPr b="1"/>
              <a:t>polygons</a:t>
            </a:r>
            <a:r>
              <a:rPr/>
              <a:t>, which are filled paths. Each vertex of the polygon requires a separate row in the data. It is often useful to merge a data frame of polygon coordinates with the data just prior to plotting. Chapter 6 illustrates this concept in more detail for map data.</a:t>
            </a:r>
          </a:p>
          <a:p>
            <a:pPr lvl="0"/>
            <a:r>
              <a:rPr>
                <a:latin typeface="Courier"/>
              </a:rPr>
              <a:t>geom_rect()</a:t>
            </a:r>
            <a:r>
              <a:rPr/>
              <a:t>, </a:t>
            </a:r>
            <a:r>
              <a:rPr>
                <a:latin typeface="Courier"/>
              </a:rPr>
              <a:t>geom_tile()</a:t>
            </a:r>
            <a:r>
              <a:rPr/>
              <a:t> and </a:t>
            </a:r>
            <a:r>
              <a:rPr>
                <a:latin typeface="Courier"/>
              </a:rPr>
              <a:t>geom_raster()</a:t>
            </a:r>
            <a:r>
              <a:rPr/>
              <a:t> draw rectangles. </a:t>
            </a:r>
            <a:r>
              <a:rPr>
                <a:latin typeface="Courier"/>
              </a:rPr>
              <a:t>geom_rect()</a:t>
            </a:r>
            <a:r>
              <a:rPr/>
              <a:t> is parameterised by the four corners of the rectangle, </a:t>
            </a:r>
            <a:r>
              <a:rPr>
                <a:latin typeface="Courier"/>
              </a:rPr>
              <a:t>xmin</a:t>
            </a:r>
            <a:r>
              <a:rPr/>
              <a:t>, </a:t>
            </a:r>
            <a:r>
              <a:rPr>
                <a:latin typeface="Courier"/>
              </a:rPr>
              <a:t>ymin</a:t>
            </a:r>
            <a:r>
              <a:rPr/>
              <a:t>, </a:t>
            </a:r>
            <a:r>
              <a:rPr>
                <a:latin typeface="Courier"/>
              </a:rPr>
              <a:t>xmax</a:t>
            </a:r>
            <a:r>
              <a:rPr/>
              <a:t> and </a:t>
            </a:r>
            <a:r>
              <a:rPr>
                <a:latin typeface="Courier"/>
              </a:rPr>
              <a:t>ymax</a:t>
            </a:r>
            <a:r>
              <a:rPr/>
              <a:t>. </a:t>
            </a:r>
            <a:r>
              <a:rPr>
                <a:latin typeface="Courier"/>
              </a:rPr>
              <a:t>geom_tile()</a:t>
            </a:r>
            <a:r>
              <a:rPr/>
              <a:t> is exactly the same, but parameterised by the center of the rect and its size, </a:t>
            </a:r>
            <a:r>
              <a:rPr>
                <a:latin typeface="Courier"/>
              </a:rPr>
              <a:t>x</a:t>
            </a:r>
            <a:r>
              <a:rPr/>
              <a:t>, </a:t>
            </a:r>
            <a:r>
              <a:rPr>
                <a:latin typeface="Courier"/>
              </a:rPr>
              <a:t>y</a:t>
            </a:r>
            <a:r>
              <a:rPr/>
              <a:t>, width and height. </a:t>
            </a:r>
            <a:r>
              <a:rPr>
                <a:latin typeface="Courier"/>
              </a:rPr>
              <a:t>geom_raster()</a:t>
            </a:r>
            <a:r>
              <a:rPr/>
              <a:t> is a fast special case of geom_tile() used when all the tiles are the same size.</a:t>
            </a:r>
          </a:p>
          <a:p>
            <a:pPr lvl="0"/>
            <a:r>
              <a:rPr>
                <a:latin typeface="Courier"/>
              </a:rPr>
              <a:t>geom_text()</a:t>
            </a:r>
            <a:r>
              <a:rPr/>
              <a:t> adds text to a plot. It requires a </a:t>
            </a:r>
            <a:r>
              <a:rPr>
                <a:latin typeface="Courier"/>
              </a:rPr>
              <a:t>label</a:t>
            </a:r>
            <a:r>
              <a:rPr/>
              <a:t> aesthetic that provides the text to display, and has a number of parameters (</a:t>
            </a:r>
            <a:r>
              <a:rPr>
                <a:latin typeface="Courier"/>
              </a:rPr>
              <a:t>angle</a:t>
            </a:r>
            <a:r>
              <a:rPr/>
              <a:t>, </a:t>
            </a:r>
            <a:r>
              <a:rPr>
                <a:latin typeface="Courier"/>
              </a:rPr>
              <a:t>family</a:t>
            </a:r>
            <a:r>
              <a:rPr/>
              <a:t>, </a:t>
            </a:r>
            <a:r>
              <a:rPr>
                <a:latin typeface="Courier"/>
              </a:rPr>
              <a:t>fontface</a:t>
            </a:r>
            <a:r>
              <a:rPr/>
              <a:t>, </a:t>
            </a:r>
            <a:r>
              <a:rPr>
                <a:latin typeface="Courier"/>
              </a:rPr>
              <a:t>hjust</a:t>
            </a:r>
            <a:r>
              <a:rPr/>
              <a:t> and </a:t>
            </a:r>
            <a:r>
              <a:rPr>
                <a:latin typeface="Courier"/>
              </a:rPr>
              <a:t>vjust</a:t>
            </a:r>
            <a:r>
              <a:rPr/>
              <a:t>) that control the appearance of the text.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Prepare the data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(ggplot2)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(patchwork)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df &lt;- 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"a"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20794D"/>
                </a:solidFill>
                <a:latin typeface="Courier"/>
              </a:rPr>
              <a:t>"b"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20794D"/>
                </a:solidFill>
                <a:latin typeface="Courier"/>
              </a:rPr>
              <a:t>"c"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(x, y, 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label))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# Hide axis label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plot.title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element_text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12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# Shrink plot title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p1 &lt;- p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ggtitle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p2 &lt;- p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geom_text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ggtitle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"text"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p3 &lt;- p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geom_bar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stat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"identity"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"skyblue"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ggtitle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"bar"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p4 &lt;- p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geom_tile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"orange"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ggtitle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"raster"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(p1 </a:t>
            </a:r>
            <a:r>
              <a:rPr>
                <a:solidFill>
                  <a:srgbClr val="5E5E5E"/>
                </a:solidFill>
                <a:latin typeface="Courier"/>
              </a:rPr>
              <a:t>|</a:t>
            </a:r>
            <a:r>
              <a:rPr>
                <a:solidFill>
                  <a:srgbClr val="003B4F"/>
                </a:solidFill>
                <a:latin typeface="Courier"/>
              </a:rPr>
              <a:t> p2 </a:t>
            </a:r>
            <a:r>
              <a:rPr>
                <a:solidFill>
                  <a:srgbClr val="5E5E5E"/>
                </a:solidFill>
                <a:latin typeface="Courier"/>
              </a:rPr>
              <a:t>|</a:t>
            </a:r>
            <a:r>
              <a:rPr>
                <a:solidFill>
                  <a:srgbClr val="003B4F"/>
                </a:solidFill>
                <a:latin typeface="Courier"/>
              </a:rPr>
              <a:t> p3 </a:t>
            </a:r>
            <a:r>
              <a:rPr>
                <a:solidFill>
                  <a:srgbClr val="5E5E5E"/>
                </a:solidFill>
                <a:latin typeface="Courier"/>
              </a:rPr>
              <a:t>|</a:t>
            </a:r>
            <a:r>
              <a:rPr>
                <a:solidFill>
                  <a:srgbClr val="003B4F"/>
                </a:solidFill>
                <a:latin typeface="Courier"/>
              </a:rPr>
              <a:t> p4)</a:t>
            </a:r>
          </a:p>
        </p:txBody>
      </p:sp>
      <p:pic>
        <p:nvPicPr>
          <p:cNvPr descr="ch3_files/figure-pptx/unnamed-chunk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p5 &lt;- p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ggtitle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"line"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p6 &lt;- p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geom_area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ggtitle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"area"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p7 &lt;- p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geom_path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ggtitle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"path"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p8 &lt;- p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geom_polygon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ggtitle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"polygon"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(p5 </a:t>
            </a:r>
            <a:r>
              <a:rPr>
                <a:solidFill>
                  <a:srgbClr val="5E5E5E"/>
                </a:solidFill>
                <a:latin typeface="Courier"/>
              </a:rPr>
              <a:t>|</a:t>
            </a:r>
            <a:r>
              <a:rPr>
                <a:solidFill>
                  <a:srgbClr val="003B4F"/>
                </a:solidFill>
                <a:latin typeface="Courier"/>
              </a:rPr>
              <a:t> p6 </a:t>
            </a:r>
            <a:r>
              <a:rPr>
                <a:solidFill>
                  <a:srgbClr val="5E5E5E"/>
                </a:solidFill>
                <a:latin typeface="Courier"/>
              </a:rPr>
              <a:t>|</a:t>
            </a:r>
            <a:r>
              <a:rPr>
                <a:solidFill>
                  <a:srgbClr val="003B4F"/>
                </a:solidFill>
                <a:latin typeface="Courier"/>
              </a:rPr>
              <a:t> p7 </a:t>
            </a:r>
            <a:r>
              <a:rPr>
                <a:solidFill>
                  <a:srgbClr val="5E5E5E"/>
                </a:solidFill>
                <a:latin typeface="Courier"/>
              </a:rPr>
              <a:t>|</a:t>
            </a:r>
            <a:r>
              <a:rPr>
                <a:solidFill>
                  <a:srgbClr val="003B4F"/>
                </a:solidFill>
                <a:latin typeface="Courier"/>
              </a:rPr>
              <a:t> p8)</a:t>
            </a:r>
          </a:p>
        </p:txBody>
      </p:sp>
      <p:pic>
        <p:nvPicPr>
          <p:cNvPr descr="ch3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Exercises</a:t>
            </a:r>
          </a:p>
          <a:p>
            <a:pPr lvl="0" indent="-342900" marL="342900">
              <a:buAutoNum type="arabicPeriod"/>
            </a:pPr>
            <a:r>
              <a:rPr/>
              <a:t>What geoms would you use to draw each of the following named plots?</a:t>
            </a:r>
          </a:p>
          <a:p>
            <a:pPr lvl="0"/>
            <a:r>
              <a:rPr/>
              <a:t>Scatterplot</a:t>
            </a:r>
          </a:p>
          <a:p>
            <a:pPr lvl="0"/>
            <a:r>
              <a:rPr/>
              <a:t>Line chart</a:t>
            </a:r>
          </a:p>
          <a:p>
            <a:pPr lvl="0"/>
            <a:r>
              <a:rPr/>
              <a:t>Histogram</a:t>
            </a:r>
          </a:p>
          <a:p>
            <a:pPr lvl="0"/>
            <a:r>
              <a:rPr/>
              <a:t>Bar chart</a:t>
            </a:r>
          </a:p>
          <a:p>
            <a:pPr lvl="0"/>
            <a:r>
              <a:rPr/>
              <a:t>Pie chart</a:t>
            </a:r>
          </a:p>
          <a:p>
            <a:pPr lvl="0" indent="-342900" marL="342900">
              <a:buAutoNum startAt="2" type="arabicPeriod"/>
            </a:pPr>
            <a:r>
              <a:rPr/>
              <a:t>What’s the difference between </a:t>
            </a:r>
            <a:r>
              <a:rPr>
                <a:latin typeface="Courier"/>
              </a:rPr>
              <a:t>geom_path()</a:t>
            </a:r>
            <a:r>
              <a:rPr/>
              <a:t> and </a:t>
            </a:r>
            <a:r>
              <a:rPr>
                <a:latin typeface="Courier"/>
              </a:rPr>
              <a:t>geom_polygon()</a:t>
            </a:r>
            <a:r>
              <a:rPr/>
              <a:t>? What’s the difference between </a:t>
            </a:r>
            <a:r>
              <a:rPr>
                <a:latin typeface="Courier"/>
              </a:rPr>
              <a:t>geom_path()</a:t>
            </a:r>
            <a:r>
              <a:rPr/>
              <a:t> and </a:t>
            </a:r>
            <a:r>
              <a:rPr>
                <a:latin typeface="Courier"/>
              </a:rPr>
              <a:t>geom_line()</a:t>
            </a:r>
            <a:r>
              <a:rPr/>
              <a:t>?</a:t>
            </a:r>
          </a:p>
          <a:p>
            <a:pPr lvl="0" indent="-342900" marL="342900">
              <a:buAutoNum startAt="2" type="arabicPeriod"/>
            </a:pPr>
            <a:r>
              <a:rPr/>
              <a:t>What low-level geoms are used to draw </a:t>
            </a:r>
            <a:r>
              <a:rPr>
                <a:latin typeface="Courier"/>
              </a:rPr>
              <a:t>geom_smooth()</a:t>
            </a:r>
            <a:r>
              <a:rPr/>
              <a:t>? What about </a:t>
            </a:r>
            <a:r>
              <a:rPr>
                <a:latin typeface="Courier"/>
              </a:rPr>
              <a:t>geom_boxplot()</a:t>
            </a:r>
            <a:r>
              <a:rPr/>
              <a:t> and </a:t>
            </a:r>
            <a:r>
              <a:rPr>
                <a:latin typeface="Courier"/>
              </a:rPr>
              <a:t>geom_violin()</a:t>
            </a:r>
            <a:r>
              <a:rPr/>
              <a:t>?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Acknowledgement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Copyright notice.</a:t>
            </a:r>
            <a:r>
              <a:rPr/>
              <a:t> These teaching materials have been adapted from </a:t>
            </a:r>
            <a:r>
              <a:rPr b="1">
                <a:hlinkClick r:id="rId2"/>
              </a:rPr>
              <a:t>ggplot2: Elegant Graphics for Data Analysis (3e)</a:t>
            </a:r>
            <a:r>
              <a:rPr/>
              <a:t>. All rights are reserved by the original authors and publishers.</a:t>
            </a:r>
          </a:p>
          <a:p>
            <a:pPr lvl="0"/>
            <a:r>
              <a:rPr b="1"/>
              <a:t>Non-commercial use only.</a:t>
            </a:r>
            <a:r>
              <a:rPr/>
              <a:t> These materials are strictly intended for educational purposes and must not be used for commercial gain or profit.</a:t>
            </a:r>
          </a:p>
          <a:p>
            <a:pPr lvl="0"/>
            <a:r>
              <a:rPr b="1"/>
              <a:t>Proper attribution.</a:t>
            </a:r>
            <a:r>
              <a:rPr/>
              <a:t> Any reproduction, distribution, or use of these materials must provide proper attribution to the original source.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</dc:title>
  <dc:creator>Yu-You Liou (NTU)</dc:creator>
  <cp:keywords/>
  <dcterms:created xsi:type="dcterms:W3CDTF">2025-10-14T15:52:05Z</dcterms:created>
  <dcterms:modified xsi:type="dcterms:W3CDTF">2025-10-14T15:52:05Z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bib.bib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date">
    <vt:lpwstr>2025-10-14</vt:lpwstr>
  </property>
  <property fmtid="{D5CDD505-2E9C-101B-9397-08002B2CF9AE}" pid="9" name="editor">
    <vt:lpwstr>source</vt:lpwstr>
  </property>
  <property fmtid="{D5CDD505-2E9C-101B-9397-08002B2CF9AE}" pid="10" name="footer">
    <vt:lpwstr>ggplot2: Elegant Graphics for Data Analysis</vt:lpwstr>
  </property>
  <property fmtid="{D5CDD505-2E9C-101B-9397-08002B2CF9AE}" pid="11" name="header-includes">
    <vt:lpwstr/>
  </property>
  <property fmtid="{D5CDD505-2E9C-101B-9397-08002B2CF9AE}" pid="12" name="include-after">
    <vt:lpwstr/>
  </property>
  <property fmtid="{D5CDD505-2E9C-101B-9397-08002B2CF9AE}" pid="13" name="include-before">
    <vt:lpwstr/>
  </property>
  <property fmtid="{D5CDD505-2E9C-101B-9397-08002B2CF9AE}" pid="14" name="institute">
    <vt:lpwstr>Shih Chien University</vt:lpwstr>
  </property>
  <property fmtid="{D5CDD505-2E9C-101B-9397-08002B2CF9AE}" pid="15" name="institutes">
    <vt:lpwstr/>
  </property>
  <property fmtid="{D5CDD505-2E9C-101B-9397-08002B2CF9AE}" pid="16" name="labels">
    <vt:lpwstr/>
  </property>
  <property fmtid="{D5CDD505-2E9C-101B-9397-08002B2CF9AE}" pid="17" name="logo">
    <vt:lpwstr>logo.svg</vt:lpwstr>
  </property>
  <property fmtid="{D5CDD505-2E9C-101B-9397-08002B2CF9AE}" pid="18" name="menu">
    <vt:lpwstr/>
  </property>
  <property fmtid="{D5CDD505-2E9C-101B-9397-08002B2CF9AE}" pid="19" name="scrollable">
    <vt:lpwstr>False</vt:lpwstr>
  </property>
  <property fmtid="{D5CDD505-2E9C-101B-9397-08002B2CF9AE}" pid="20" name="slide-number">
    <vt:lpwstr>True</vt:lpwstr>
  </property>
  <property fmtid="{D5CDD505-2E9C-101B-9397-08002B2CF9AE}" pid="21" name="smaller">
    <vt:lpwstr>True</vt:lpwstr>
  </property>
  <property fmtid="{D5CDD505-2E9C-101B-9397-08002B2CF9AE}" pid="22" name="subtitle">
    <vt:lpwstr>Chapter 3: Individual geoms</vt:lpwstr>
  </property>
  <property fmtid="{D5CDD505-2E9C-101B-9397-08002B2CF9AE}" pid="23" name="theme">
    <vt:lpwstr>serif</vt:lpwstr>
  </property>
  <property fmtid="{D5CDD505-2E9C-101B-9397-08002B2CF9AE}" pid="24" name="toc-title">
    <vt:lpwstr>Table of contents</vt:lpwstr>
  </property>
  <property fmtid="{D5CDD505-2E9C-101B-9397-08002B2CF9AE}" pid="25" name="transition">
    <vt:lpwstr>none</vt:lpwstr>
  </property>
</Properties>
</file>