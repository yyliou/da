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3" Type="http://schemas.openxmlformats.org/officeDocument/2006/relationships/viewProps" Target="viewProps.xml" /><Relationship Id="rId72" Type="http://schemas.openxmlformats.org/officeDocument/2006/relationships/presProps" Target="presProps.xml" /><Relationship Id="rId1" Type="http://schemas.openxmlformats.org/officeDocument/2006/relationships/slideMaster" Target="slideMasters/slideMaster1.xml" /><Relationship Id="rId75" Type="http://schemas.openxmlformats.org/officeDocument/2006/relationships/tableStyles" Target="tableStyles.xml" /><Relationship Id="rId74"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3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png" /></Relationships>
</file>

<file path=ppt/slides/_rels/slide3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0.png"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1.png"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2.png"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3.png" /></Relationships>
</file>

<file path=ppt/slides/_rels/slide4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4.png"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5.png"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6.png"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7.png"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8.png" /></Relationships>
</file>

<file path=ppt/slides/_rels/slide6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9.png"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0.png"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gplot2-book.org/getting-started.html" TargetMode="Externa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Data Analysis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Chapter 2: First Steps</a:t>
            </a:r>
            <a:br/>
            <a:br/>
            <a:r>
              <a:rPr/>
              <a:t>Yu-You Liou (NTU)</a:t>
            </a:r>
          </a:p>
        </p:txBody>
      </p:sp>
      <p:sp>
        <p:nvSpPr>
          <p:cNvPr id="4" name="Date Placeholder 3"/>
          <p:cNvSpPr>
            <a:spLocks noGrp="1"/>
          </p:cNvSpPr>
          <p:nvPr>
            <p:ph idx="10" sz="half" type="dt"/>
          </p:nvPr>
        </p:nvSpPr>
        <p:spPr/>
        <p:txBody>
          <a:bodyPr/>
          <a:lstStyle/>
          <a:p>
            <a:pPr lvl="0" indent="0" marL="0">
              <a:buNone/>
            </a:pPr>
            <a:r>
              <a:rPr/>
              <a:t>2025-10-01</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Introduction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Introduction</a:t>
            </a:r>
          </a:p>
        </p:txBody>
      </p:sp>
      <p:sp>
        <p:nvSpPr>
          <p:cNvPr id="3" name="Content Placeholder 2"/>
          <p:cNvSpPr>
            <a:spLocks noGrp="1"/>
          </p:cNvSpPr>
          <p:nvPr>
            <p:ph idx="1"/>
          </p:nvPr>
        </p:nvSpPr>
        <p:spPr/>
        <p:txBody>
          <a:bodyPr/>
          <a:lstStyle/>
          <a:p>
            <a:pPr lvl="0" indent="0" marL="0">
              <a:buNone/>
            </a:pPr>
            <a:r>
              <a:rPr/>
              <a:t>The goal of this chapter is to teach you how to produce useful graphics with </a:t>
            </a:r>
            <a:r>
              <a:rPr>
                <a:latin typeface="Courier"/>
              </a:rPr>
              <a:t>ggplot2</a:t>
            </a:r>
            <a:r>
              <a:rPr/>
              <a:t> as quickly as possible. You’ll learn the basics of </a:t>
            </a:r>
            <a:r>
              <a:rPr>
                <a:latin typeface="Courier"/>
              </a:rPr>
              <a:t>ggplot()</a:t>
            </a:r>
            <a:r>
              <a:rPr/>
              <a:t> along with some useful “recipes” to make the most important plots. </a:t>
            </a:r>
            <a:r>
              <a:rPr>
                <a:latin typeface="Courier"/>
              </a:rPr>
              <a:t>ggplot()</a:t>
            </a:r>
            <a:r>
              <a:rPr/>
              <a:t> allows you to make complex plots with just a few lines of code because it’s based on a rich underlying theory, the grammar of graphics. Here we’ll skip the theory and focus on the practice, and in later chapters you’ll learn how to use the full expressive power of the grammar.</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In this chapter you’ll learn:</a:t>
            </a:r>
          </a:p>
          <a:p>
            <a:pPr lvl="0"/>
            <a:r>
              <a:rPr/>
              <a:t>About the </a:t>
            </a:r>
            <a:r>
              <a:rPr>
                <a:latin typeface="Courier"/>
              </a:rPr>
              <a:t>mpg</a:t>
            </a:r>
            <a:r>
              <a:rPr/>
              <a:t> dataset included with </a:t>
            </a:r>
            <a:r>
              <a:rPr>
                <a:latin typeface="Courier"/>
              </a:rPr>
              <a:t>ggplot2</a:t>
            </a:r>
            <a:r>
              <a:rPr/>
              <a:t>, Section 2.2.</a:t>
            </a:r>
          </a:p>
          <a:p>
            <a:pPr lvl="0"/>
            <a:r>
              <a:rPr/>
              <a:t>The three key components of every plot: data, aesthetics and geoms, Section 2.3.</a:t>
            </a:r>
          </a:p>
          <a:p>
            <a:pPr lvl="0"/>
            <a:r>
              <a:rPr/>
              <a:t>How to add additional variables to a plot with aesthetics, Section 2.4.</a:t>
            </a:r>
          </a:p>
          <a:p>
            <a:pPr lvl="0"/>
            <a:r>
              <a:rPr/>
              <a:t>How to display additional categorical variables in a plot using small multiples created by faceting, Section 2.5.</a:t>
            </a:r>
          </a:p>
          <a:p>
            <a:pPr lvl="0"/>
            <a:r>
              <a:rPr/>
              <a:t>A variety of different geoms that you can use to create different types of plots, Section 2.6.</a:t>
            </a:r>
          </a:p>
          <a:p>
            <a:pPr lvl="0"/>
            <a:r>
              <a:rPr/>
              <a:t>How to modify the axes, Section 2.7.</a:t>
            </a:r>
          </a:p>
          <a:p>
            <a:pPr lvl="0"/>
            <a:r>
              <a:rPr/>
              <a:t>Things you can do with a plot object other than display it, like save it to disk, Section 2.8.</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Fuel economy data</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Fuel economy data</a:t>
            </a:r>
          </a:p>
        </p:txBody>
      </p:sp>
      <p:sp>
        <p:nvSpPr>
          <p:cNvPr id="3" name="Content Placeholder 2"/>
          <p:cNvSpPr>
            <a:spLocks noGrp="1"/>
          </p:cNvSpPr>
          <p:nvPr>
            <p:ph idx="1"/>
          </p:nvPr>
        </p:nvSpPr>
        <p:spPr/>
        <p:txBody>
          <a:bodyPr/>
          <a:lstStyle/>
          <a:p>
            <a:pPr lvl="0" indent="0" marL="0">
              <a:buNone/>
            </a:pPr>
            <a:r>
              <a:rPr/>
              <a:t>In this chapter, we’ll mostly use one data set that’s bundled with </a:t>
            </a:r>
            <a:r>
              <a:rPr>
                <a:latin typeface="Courier"/>
              </a:rPr>
              <a:t>ggplot2</a:t>
            </a:r>
            <a:r>
              <a:rPr/>
              <a:t>: </a:t>
            </a:r>
            <a:r>
              <a:rPr>
                <a:latin typeface="Courier"/>
              </a:rPr>
              <a:t>mpg</a:t>
            </a:r>
            <a:r>
              <a:rPr/>
              <a:t>. It includes information about the fuel economy of popular car models in 1999 and 2008, collected by the US Environmental Protection Agency, http://fueleconomy.gov. You can access the data by loading </a:t>
            </a:r>
            <a:r>
              <a:rPr>
                <a:latin typeface="Courier"/>
              </a:rPr>
              <a:t>ggplot2</a:t>
            </a:r>
            <a:r>
              <a:rPr/>
              <a:t>:</a:t>
            </a:r>
          </a:p>
          <a:p>
            <a:pPr lvl="0" indent="0">
              <a:buNone/>
            </a:pPr>
            <a:r>
              <a:rPr>
                <a:solidFill>
                  <a:srgbClr val="4758AB"/>
                </a:solidFill>
                <a:latin typeface="Courier"/>
              </a:rPr>
              <a:t>library</a:t>
            </a:r>
            <a:r>
              <a:rPr>
                <a:solidFill>
                  <a:srgbClr val="003B4F"/>
                </a:solidFill>
                <a:latin typeface="Courier"/>
              </a:rPr>
              <a:t>(ggplot2)</a:t>
            </a:r>
            <a:br/>
            <a:r>
              <a:rPr>
                <a:solidFill>
                  <a:srgbClr val="003B4F"/>
                </a:solidFill>
                <a:latin typeface="Courier"/>
              </a:rPr>
              <a:t>mpg</a:t>
            </a:r>
          </a:p>
          <a:p>
            <a:pPr lvl="0" indent="0">
              <a:buNone/>
            </a:pPr>
            <a:r>
              <a:rPr>
                <a:latin typeface="Courier"/>
              </a:rPr>
              <a:t># A tibble: 234 × 11
   manufacturer model      displ  year   cyl trans drv     cty   hwy fl    class
   &lt;chr&gt;        &lt;chr&gt;      &lt;dbl&gt; &lt;int&gt; &lt;int&gt; &lt;chr&gt; &lt;chr&gt; &lt;int&gt; &lt;int&gt; &lt;chr&gt; &lt;chr&gt;
 1 audi         a4           1.8  1999     4 auto… f        18    29 p     comp…
 2 audi         a4           1.8  1999     4 manu… f        21    29 p     comp…
 3 audi         a4           2    2008     4 manu… f        20    31 p     comp…
 4 audi         a4           2    2008     4 auto… f        21    30 p     comp…
 5 audi         a4           2.8  1999     6 auto… f        16    26 p     comp…
 6 audi         a4           2.8  1999     6 manu… f        18    26 p     comp…
 7 audi         a4           3.1  2008     6 auto… f        18    27 p     comp…
 8 audi         a4 quattro   1.8  1999     4 manu… 4        18    26 p     comp…
 9 audi         a4 quattro   1.8  1999     4 auto… 4        16    25 p     comp…
10 audi         a4 quattro   2    2008     4 manu… 4        20    28 p     comp…
# ℹ 224 more rows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Variables in </a:t>
            </a:r>
            <a:r>
              <a:rPr b="1">
                <a:latin typeface="Courier"/>
              </a:rPr>
              <a:t>mpg</a:t>
            </a:r>
          </a:p>
          <a:p>
            <a:pPr lvl="0" indent="0" marL="0">
              <a:buNone/>
            </a:pPr>
            <a:r>
              <a:rPr/>
              <a:t>The variables are mostly self-explanatory:</a:t>
            </a:r>
          </a:p>
          <a:p>
            <a:pPr lvl="0"/>
            <a:r>
              <a:rPr>
                <a:latin typeface="Courier"/>
              </a:rPr>
              <a:t>cty</a:t>
            </a:r>
            <a:r>
              <a:rPr/>
              <a:t> and </a:t>
            </a:r>
            <a:r>
              <a:rPr>
                <a:latin typeface="Courier"/>
              </a:rPr>
              <a:t>hwy</a:t>
            </a:r>
            <a:r>
              <a:rPr/>
              <a:t> record miles per gallon (mpg) for city and highway driving.</a:t>
            </a:r>
          </a:p>
          <a:p>
            <a:pPr lvl="0"/>
            <a:r>
              <a:rPr>
                <a:latin typeface="Courier"/>
              </a:rPr>
              <a:t>displ</a:t>
            </a:r>
            <a:r>
              <a:rPr/>
              <a:t> is the engine displacement in litres.</a:t>
            </a:r>
          </a:p>
          <a:p>
            <a:pPr lvl="0"/>
            <a:r>
              <a:rPr>
                <a:latin typeface="Courier"/>
              </a:rPr>
              <a:t>drv</a:t>
            </a:r>
            <a:r>
              <a:rPr/>
              <a:t> is the drivetrain: front wheel (f), rear wheel (r) or four wheel (4).</a:t>
            </a:r>
          </a:p>
          <a:p>
            <a:pPr lvl="0"/>
            <a:r>
              <a:rPr>
                <a:latin typeface="Courier"/>
              </a:rPr>
              <a:t>model</a:t>
            </a:r>
            <a:r>
              <a:rPr/>
              <a:t> is the model of car. There are 38 models, selected because they had a new edition every year between 1999 and 2008.</a:t>
            </a:r>
          </a:p>
          <a:p>
            <a:pPr lvl="0"/>
            <a:r>
              <a:rPr>
                <a:latin typeface="Courier"/>
              </a:rPr>
              <a:t>class</a:t>
            </a:r>
            <a:r>
              <a:rPr/>
              <a:t> is a categorical variable describing the “type” of car: two seater, SUV, compact, etc.</a:t>
            </a:r>
          </a:p>
          <a:p>
            <a:pPr lvl="0" indent="0" marL="0">
              <a:buNone/>
            </a:pPr>
            <a:r>
              <a:rPr/>
              <a:t>This dataset suggests many interesting questions. How are engine size and fuel economy related? Do certain manufacturers care more about fuel economy than others? Has fuel economy improved in the last ten years? We will try to answer some of these questions, and in the process learn how to create some basic plots with ggplot2.</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a:t>
            </a:r>
          </a:p>
        </p:txBody>
      </p:sp>
      <p:sp>
        <p:nvSpPr>
          <p:cNvPr id="3" name="Content Placeholder 2"/>
          <p:cNvSpPr>
            <a:spLocks noGrp="1"/>
          </p:cNvSpPr>
          <p:nvPr>
            <p:ph idx="1"/>
          </p:nvPr>
        </p:nvSpPr>
        <p:spPr/>
        <p:txBody>
          <a:bodyPr/>
          <a:lstStyle/>
          <a:p>
            <a:pPr lvl="0" indent="-342900" marL="342900">
              <a:buAutoNum type="arabicPeriod"/>
            </a:pPr>
            <a:r>
              <a:rPr/>
              <a:t>List five functions that you could use to get more information about the mpg dataset.</a:t>
            </a:r>
          </a:p>
          <a:p>
            <a:pPr lvl="0" indent="-342900" marL="342900">
              <a:buAutoNum type="arabicPeriod"/>
            </a:pPr>
            <a:r>
              <a:rPr/>
              <a:t>How can you find out what other datasets are included with </a:t>
            </a:r>
            <a:r>
              <a:rPr>
                <a:latin typeface="Courier"/>
              </a:rPr>
              <a:t>ggplot2</a:t>
            </a:r>
            <a:r>
              <a:rPr/>
              <a:t>?</a:t>
            </a:r>
          </a:p>
          <a:p>
            <a:pPr lvl="0" indent="-342900" marL="342900">
              <a:buAutoNum type="arabicPeriod"/>
            </a:pPr>
            <a:r>
              <a:rPr/>
              <a:t>Apart from the US, most countries use fuel consumption (fuel consumed over fixed distance) rather than fuel economy (distance travelled with fixed amount of fuel). How could you convert cty and hwy into the European standard of l/100km?</a:t>
            </a:r>
          </a:p>
          <a:p>
            <a:pPr lvl="0" indent="-342900" marL="342900">
              <a:buAutoNum type="arabicPeriod"/>
            </a:pPr>
            <a:r>
              <a:rPr/>
              <a:t>Which manufacturer has the most models in this dataset? Which model has the most variations? Does your answer change if you remove the redundant specification of drive train (e.g. “pathfinder 4wd”, “a4 quattro”) from the model name?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Key components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components</a:t>
            </a:r>
          </a:p>
        </p:txBody>
      </p:sp>
      <p:sp>
        <p:nvSpPr>
          <p:cNvPr id="3" name="Content Placeholder 2"/>
          <p:cNvSpPr>
            <a:spLocks noGrp="1"/>
          </p:cNvSpPr>
          <p:nvPr>
            <p:ph idx="1"/>
          </p:nvPr>
        </p:nvSpPr>
        <p:spPr/>
        <p:txBody>
          <a:bodyPr/>
          <a:lstStyle/>
          <a:p>
            <a:pPr lvl="0" indent="0" marL="0">
              <a:buNone/>
            </a:pPr>
            <a:r>
              <a:rPr/>
              <a:t>Every </a:t>
            </a:r>
            <a:r>
              <a:rPr>
                <a:latin typeface="Courier"/>
              </a:rPr>
              <a:t>ggplot2</a:t>
            </a:r>
            <a:r>
              <a:rPr/>
              <a:t> plot has three key components:</a:t>
            </a:r>
          </a:p>
          <a:p>
            <a:pPr lvl="0" indent="-342900" marL="342900">
              <a:buAutoNum type="arabicPeriod"/>
            </a:pPr>
            <a:r>
              <a:rPr b="1"/>
              <a:t>data</a:t>
            </a:r>
            <a:r>
              <a:rPr/>
              <a:t>,</a:t>
            </a:r>
          </a:p>
          <a:p>
            <a:pPr lvl="0" indent="-342900" marL="342900">
              <a:buAutoNum type="arabicPeriod"/>
            </a:pPr>
            <a:r>
              <a:rPr/>
              <a:t>A set of </a:t>
            </a:r>
            <a:r>
              <a:rPr b="1"/>
              <a:t>aesthetic mappings</a:t>
            </a:r>
            <a:r>
              <a:rPr/>
              <a:t> between variables in the data and visual properties, and</a:t>
            </a:r>
          </a:p>
          <a:p>
            <a:pPr lvl="0" indent="-342900" marL="342900">
              <a:buAutoNum type="arabicPeriod"/>
            </a:pPr>
            <a:r>
              <a:rPr/>
              <a:t>At least one layer which describes how to render each observation. Layers are usually created with a </a:t>
            </a:r>
            <a:r>
              <a:rPr b="1"/>
              <a:t>geom</a:t>
            </a:r>
            <a:r>
              <a:rPr/>
              <a:t> function.</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Here’s a simple example:</a:t>
            </a:r>
          </a:p>
          <a:p>
            <a:pPr lvl="0" indent="0">
              <a:buNone/>
            </a:pPr>
            <a:r>
              <a:rPr>
                <a:solidFill>
                  <a:srgbClr val="4758AB"/>
                </a:solidFill>
                <a:latin typeface="Courier"/>
              </a:rPr>
              <a:t>ggplot</a:t>
            </a:r>
            <a:r>
              <a:rPr>
                <a:solidFill>
                  <a:srgbClr val="003B4F"/>
                </a:solidFill>
                <a:latin typeface="Courier"/>
              </a:rPr>
              <a:t>(mpg,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displ, </a:t>
            </a:r>
            <a:r>
              <a:rPr>
                <a:solidFill>
                  <a:srgbClr val="657422"/>
                </a:solidFill>
                <a:latin typeface="Courier"/>
              </a:rPr>
              <a:t>y =</a:t>
            </a:r>
            <a:r>
              <a:rPr>
                <a:solidFill>
                  <a:srgbClr val="003B4F"/>
                </a:solidFill>
                <a:latin typeface="Courier"/>
              </a:rPr>
              <a:t> hwy))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geom_point</a:t>
            </a:r>
            <a:r>
              <a:rPr>
                <a:solidFill>
                  <a:srgbClr val="003B4F"/>
                </a:solidFill>
                <a:latin typeface="Courier"/>
              </a:rPr>
              <a:t>()</a:t>
            </a:r>
          </a:p>
        </p:txBody>
      </p:sp>
      <p:pic>
        <p:nvPicPr>
          <p:cNvPr descr="ch2_files/figure-pptx/unnamed-chunk-2-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This produces a scatterplot defined by:</a:t>
            </a:r>
          </a:p>
          <a:p>
            <a:pPr lvl="0" indent="-342900" marL="342900">
              <a:buAutoNum type="arabicPeriod"/>
            </a:pPr>
            <a:r>
              <a:rPr/>
              <a:t>Data: mpg.</a:t>
            </a:r>
          </a:p>
          <a:p>
            <a:pPr lvl="0" indent="-342900" marL="342900">
              <a:buAutoNum type="arabicPeriod"/>
            </a:pPr>
            <a:r>
              <a:rPr/>
              <a:t>Aesthetic mapping: engine size mapped to x position, fuel economy to y position.</a:t>
            </a:r>
          </a:p>
          <a:p>
            <a:pPr lvl="0" indent="-342900" marL="342900">
              <a:buAutoNum type="arabicPeriod"/>
            </a:pPr>
            <a:r>
              <a:rPr/>
              <a:t>Layer: points.</a:t>
            </a:r>
          </a:p>
          <a:p>
            <a:pPr lvl="0" indent="0" marL="0">
              <a:buNone/>
            </a:pPr>
            <a:r>
              <a:rPr/>
              <a:t>Pay attention to the structure of this function call: data and aesthetic mappings are supplied in </a:t>
            </a:r>
            <a:r>
              <a:rPr>
                <a:latin typeface="Courier"/>
              </a:rPr>
              <a:t>ggplot()</a:t>
            </a:r>
            <a:r>
              <a:rPr/>
              <a:t>, then layers are added on with </a:t>
            </a:r>
            <a:r>
              <a:rPr>
                <a:latin typeface="Courier"/>
              </a:rPr>
              <a:t>+</a:t>
            </a:r>
            <a:r>
              <a:rPr/>
              <a:t>. This is an important pattern, and as you learn more about </a:t>
            </a:r>
            <a:r>
              <a:rPr>
                <a:latin typeface="Courier"/>
              </a:rPr>
              <a:t>ggplot2</a:t>
            </a:r>
            <a:r>
              <a:rPr/>
              <a:t> you’ll construct increasingly sophisticated plots by adding on more types of components.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Almost every plot maps a variable to </a:t>
            </a:r>
            <a:r>
              <a:rPr>
                <a:latin typeface="Courier"/>
              </a:rPr>
              <a:t>x</a:t>
            </a:r>
            <a:r>
              <a:rPr/>
              <a:t> and </a:t>
            </a:r>
            <a:r>
              <a:rPr>
                <a:latin typeface="Courier"/>
              </a:rPr>
              <a:t>y</a:t>
            </a:r>
            <a:r>
              <a:rPr/>
              <a:t>, so naming these aesthetics is tedious, so the first two unnamed arguments to </a:t>
            </a:r>
            <a:r>
              <a:rPr>
                <a:latin typeface="Courier"/>
              </a:rPr>
              <a:t>aes()</a:t>
            </a:r>
            <a:r>
              <a:rPr/>
              <a:t> will be mapped to </a:t>
            </a:r>
            <a:r>
              <a:rPr>
                <a:latin typeface="Courier"/>
              </a:rPr>
              <a:t>x</a:t>
            </a:r>
            <a:r>
              <a:rPr/>
              <a:t> and </a:t>
            </a:r>
            <a:r>
              <a:rPr>
                <a:latin typeface="Courier"/>
              </a:rPr>
              <a:t>y</a:t>
            </a:r>
            <a:r>
              <a:rPr/>
              <a:t>. This means that the following code is identical to the example above:</a:t>
            </a:r>
          </a:p>
          <a:p>
            <a:pPr lvl="0" indent="0">
              <a:buNone/>
            </a:pPr>
            <a:r>
              <a:rPr>
                <a:solidFill>
                  <a:srgbClr val="4758AB"/>
                </a:solidFill>
                <a:latin typeface="Courier"/>
              </a:rPr>
              <a:t>ggplot</a:t>
            </a:r>
            <a:r>
              <a:rPr>
                <a:solidFill>
                  <a:srgbClr val="003B4F"/>
                </a:solidFill>
                <a:latin typeface="Courier"/>
              </a:rPr>
              <a:t>(mpg, </a:t>
            </a:r>
            <a:r>
              <a:rPr>
                <a:solidFill>
                  <a:srgbClr val="4758AB"/>
                </a:solidFill>
                <a:latin typeface="Courier"/>
              </a:rPr>
              <a:t>aes</a:t>
            </a:r>
            <a:r>
              <a:rPr>
                <a:solidFill>
                  <a:srgbClr val="003B4F"/>
                </a:solidFill>
                <a:latin typeface="Courier"/>
              </a:rPr>
              <a:t>(displ, hwy))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geom_point</a:t>
            </a:r>
            <a:r>
              <a:rPr>
                <a:solidFill>
                  <a:srgbClr val="003B4F"/>
                </a:solidFill>
                <a:latin typeface="Courier"/>
              </a:rPr>
              <a:t>()</a:t>
            </a:r>
          </a:p>
        </p:txBody>
      </p:sp>
      <p:pic>
        <p:nvPicPr>
          <p:cNvPr descr="ch2_files/figure-pptx/unnamed-chunk-3-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We’ll stick to that style throughout the book, so don’t forget that the first two arguments to </a:t>
            </a:r>
            <a:r>
              <a:rPr>
                <a:latin typeface="Courier"/>
              </a:rPr>
              <a:t>aes()</a:t>
            </a:r>
            <a:r>
              <a:rPr/>
              <a:t> are </a:t>
            </a:r>
            <a:r>
              <a:rPr>
                <a:latin typeface="Courier"/>
              </a:rPr>
              <a:t>x</a:t>
            </a:r>
            <a:r>
              <a:rPr/>
              <a:t> and </a:t>
            </a:r>
            <a:r>
              <a:rPr>
                <a:latin typeface="Courier"/>
              </a:rPr>
              <a:t>y</a:t>
            </a:r>
            <a:r>
              <a:rPr/>
              <a:t>. Note that we’ve put each command on a new line. We recommend doing this in your own code, so it’s easy to scan a plot specification and see exactly what’s there. In this chapter, we’ll sometimes use just one line per plot, because it makes it easier to see the differences between plot variations.</a:t>
            </a:r>
          </a:p>
          <a:p>
            <a:pPr lvl="0" indent="0" marL="0">
              <a:buNone/>
            </a:pPr>
            <a:r>
              <a:rPr/>
              <a:t>The plot shows a strong correlation: as the engine size gets bigger, the fuel economy gets worse. There are also some interesting outliers: some cars with large engines get higher fuel economy than average. What sort of cars do you think they are?</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a:t>
            </a:r>
          </a:p>
        </p:txBody>
      </p:sp>
      <p:sp>
        <p:nvSpPr>
          <p:cNvPr id="3" name="Content Placeholder 2"/>
          <p:cNvSpPr>
            <a:spLocks noGrp="1"/>
          </p:cNvSpPr>
          <p:nvPr>
            <p:ph idx="1"/>
          </p:nvPr>
        </p:nvSpPr>
        <p:spPr/>
        <p:txBody>
          <a:bodyPr/>
          <a:lstStyle/>
          <a:p>
            <a:pPr lvl="0" indent="-342900" marL="342900">
              <a:buAutoNum type="arabicPeriod"/>
            </a:pPr>
            <a:r>
              <a:rPr/>
              <a:t>How would you describe the relationship between cty and hwy? Do you have any concerns about drawing conclusions from that plot?</a:t>
            </a:r>
          </a:p>
          <a:p>
            <a:pPr lvl="0" indent="-342900" marL="342900">
              <a:buAutoNum type="arabicPeriod"/>
            </a:pPr>
            <a:r>
              <a:rPr/>
              <a:t>What does </a:t>
            </a:r>
            <a:r>
              <a:rPr>
                <a:latin typeface="Courier"/>
              </a:rPr>
              <a:t>ggplot(mpg, aes(model, manufacturer)) + geom_point()</a:t>
            </a:r>
            <a:r>
              <a:rPr/>
              <a:t> show? Is it useful? How could you modify the data to make it more informative?</a:t>
            </a:r>
          </a:p>
          <a:p>
            <a:pPr lvl="0" indent="-342900" marL="342900">
              <a:buAutoNum type="arabicPeriod"/>
            </a:pPr>
            <a:r>
              <a:rPr/>
              <a:t>Describe the data, aesthetic mappings and layers used for each of the following plots. You’ll need to guess a little because you haven’t seen all the datasets and functions yet, but use your common sense! See if you can predict what the plot will look like before running the code.</a:t>
            </a:r>
          </a:p>
          <a:p>
            <a:pPr lvl="0"/>
            <a:r>
              <a:rPr>
                <a:latin typeface="Courier"/>
              </a:rPr>
              <a:t>ggplot(mpg, aes(cty, hwy)) + geom_point()</a:t>
            </a:r>
          </a:p>
          <a:p>
            <a:pPr lvl="0"/>
            <a:r>
              <a:rPr>
                <a:latin typeface="Courier"/>
              </a:rPr>
              <a:t>ggplot(diamonds, aes(carat, price)) + geom_point()</a:t>
            </a:r>
          </a:p>
          <a:p>
            <a:pPr lvl="0"/>
            <a:r>
              <a:rPr>
                <a:latin typeface="Courier"/>
              </a:rPr>
              <a:t>ggplot(economics, aes(date, unemploy)) + geom_line()</a:t>
            </a:r>
          </a:p>
          <a:p>
            <a:pPr lvl="0"/>
            <a:r>
              <a:rPr>
                <a:latin typeface="Courier"/>
              </a:rPr>
              <a:t>ggplot(mpg, aes(cty)) + geom_histogram()</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Colour, size, shape and other aesthetic attributes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Colour, size, shape and other aesthetic attributes</a:t>
            </a:r>
          </a:p>
        </p:txBody>
      </p:sp>
      <p:sp>
        <p:nvSpPr>
          <p:cNvPr id="3" name="Content Placeholder 2"/>
          <p:cNvSpPr>
            <a:spLocks noGrp="1"/>
          </p:cNvSpPr>
          <p:nvPr>
            <p:ph idx="1"/>
          </p:nvPr>
        </p:nvSpPr>
        <p:spPr/>
        <p:txBody>
          <a:bodyPr/>
          <a:lstStyle/>
          <a:p>
            <a:pPr lvl="0" indent="0" marL="0">
              <a:buNone/>
            </a:pPr>
            <a:r>
              <a:rPr/>
              <a:t>To add additional variables to a plot, we can use other aesthetics like colour, shape, and size (NB: while we use British spelling throughout this book, </a:t>
            </a:r>
            <a:r>
              <a:rPr>
                <a:latin typeface="Courier"/>
              </a:rPr>
              <a:t>ggplot2</a:t>
            </a:r>
            <a:r>
              <a:rPr/>
              <a:t> also accepts American spellings). These work in the same way as the </a:t>
            </a:r>
            <a:r>
              <a:rPr>
                <a:latin typeface="Courier"/>
              </a:rPr>
              <a:t>x</a:t>
            </a:r>
            <a:r>
              <a:rPr/>
              <a:t> and </a:t>
            </a:r>
            <a:r>
              <a:rPr>
                <a:latin typeface="Courier"/>
              </a:rPr>
              <a:t>y</a:t>
            </a:r>
            <a:r>
              <a:rPr/>
              <a:t> aesthetics, and are added into the call to </a:t>
            </a:r>
            <a:r>
              <a:rPr>
                <a:latin typeface="Courier"/>
              </a:rPr>
              <a:t>aes()</a:t>
            </a:r>
            <a:r>
              <a:rPr/>
              <a:t>:</a:t>
            </a:r>
          </a:p>
          <a:p>
            <a:pPr lvl="0"/>
            <a:r>
              <a:rPr>
                <a:latin typeface="Courier"/>
              </a:rPr>
              <a:t>aes(displ, hwy, colour = class)</a:t>
            </a:r>
          </a:p>
          <a:p>
            <a:pPr lvl="0"/>
            <a:r>
              <a:rPr>
                <a:latin typeface="Courier"/>
              </a:rPr>
              <a:t>aes(displ, hwy, shape = drv)</a:t>
            </a:r>
          </a:p>
          <a:p>
            <a:pPr lvl="0"/>
            <a:r>
              <a:rPr>
                <a:latin typeface="Courier"/>
              </a:rPr>
              <a:t>aes(displ, hwy, size = cyl)</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latin typeface="Courier"/>
              </a:rPr>
              <a:t>ggplot2</a:t>
            </a:r>
            <a:r>
              <a:rPr/>
              <a:t> takes care of the details of converting data (e.g., ‘f’, ‘r’, ‘4’) into aesthetics (e.g., ‘red’, ‘yellow’, ‘green’) with a scale. There is one scale for each aesthetic mapping in a plot. The scale is also responsible for creating a guide, an axis or legend, that allows you to read the plot, converting aesthetic values back into data values. For now, we’ll stick with the default scales provided by </a:t>
            </a:r>
            <a:r>
              <a:rPr>
                <a:latin typeface="Courier"/>
              </a:rPr>
              <a:t>ggplot2</a:t>
            </a:r>
            <a:r>
              <a:rPr/>
              <a:t>. You’ll learn how to override them in Chapter 11.</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Map the class variable to colour</a:t>
            </a:r>
          </a:p>
          <a:p>
            <a:pPr lvl="0" indent="0" marL="0">
              <a:buNone/>
            </a:pPr>
            <a:r>
              <a:rPr/>
              <a:t>To learn more about those outlying variables in the previous scatterplot, we could map the class variable to colour:</a:t>
            </a:r>
          </a:p>
          <a:p>
            <a:pPr lvl="0" indent="0">
              <a:buNone/>
            </a:pPr>
            <a:r>
              <a:rPr>
                <a:solidFill>
                  <a:srgbClr val="4758AB"/>
                </a:solidFill>
                <a:latin typeface="Courier"/>
              </a:rPr>
              <a:t>ggplot</a:t>
            </a:r>
            <a:r>
              <a:rPr>
                <a:solidFill>
                  <a:srgbClr val="003B4F"/>
                </a:solidFill>
                <a:latin typeface="Courier"/>
              </a:rPr>
              <a:t>(mpg, </a:t>
            </a:r>
            <a:r>
              <a:rPr>
                <a:solidFill>
                  <a:srgbClr val="4758AB"/>
                </a:solidFill>
                <a:latin typeface="Courier"/>
              </a:rPr>
              <a:t>aes</a:t>
            </a:r>
            <a:r>
              <a:rPr>
                <a:solidFill>
                  <a:srgbClr val="003B4F"/>
                </a:solidFill>
                <a:latin typeface="Courier"/>
              </a:rPr>
              <a:t>(displ, hwy, </a:t>
            </a:r>
            <a:r>
              <a:rPr>
                <a:solidFill>
                  <a:srgbClr val="657422"/>
                </a:solidFill>
                <a:latin typeface="Courier"/>
              </a:rPr>
              <a:t>colour =</a:t>
            </a:r>
            <a:r>
              <a:rPr>
                <a:solidFill>
                  <a:srgbClr val="003B4F"/>
                </a:solidFill>
                <a:latin typeface="Courier"/>
              </a:rPr>
              <a:t> class))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geom_point</a:t>
            </a:r>
            <a:r>
              <a:rPr>
                <a:solidFill>
                  <a:srgbClr val="003B4F"/>
                </a:solidFill>
                <a:latin typeface="Courier"/>
              </a:rPr>
              <a:t>()</a:t>
            </a:r>
          </a:p>
        </p:txBody>
      </p:sp>
      <p:pic>
        <p:nvPicPr>
          <p:cNvPr descr="ch2_files/figure-pptx/unnamed-chunk-4-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This gives each point a unique colour corresponding to its class. The legend allows us to read data values from the colour, showing us that the group of cars with unusually high fuel economy for their engine size are two seaters: cars with big engines, but lightweight bodies.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If you want to set an aesthetic to a fixed value, without scaling it, do so in the individual layer outside of </a:t>
            </a:r>
            <a:r>
              <a:rPr>
                <a:latin typeface="Courier"/>
              </a:rPr>
              <a:t>aes()</a:t>
            </a:r>
            <a:r>
              <a:rPr/>
              <a:t>. Compare the following two plots:</a:t>
            </a:r>
          </a:p>
          <a:p>
            <a:pPr lvl="0" indent="0">
              <a:buNone/>
            </a:pPr>
            <a:r>
              <a:rPr>
                <a:solidFill>
                  <a:srgbClr val="4758AB"/>
                </a:solidFill>
                <a:latin typeface="Courier"/>
              </a:rPr>
              <a:t>ggplot</a:t>
            </a:r>
            <a:r>
              <a:rPr>
                <a:solidFill>
                  <a:srgbClr val="003B4F"/>
                </a:solidFill>
                <a:latin typeface="Courier"/>
              </a:rPr>
              <a:t>(mpg, </a:t>
            </a:r>
            <a:r>
              <a:rPr>
                <a:solidFill>
                  <a:srgbClr val="4758AB"/>
                </a:solidFill>
                <a:latin typeface="Courier"/>
              </a:rPr>
              <a:t>aes</a:t>
            </a:r>
            <a:r>
              <a:rPr>
                <a:solidFill>
                  <a:srgbClr val="003B4F"/>
                </a:solidFill>
                <a:latin typeface="Courier"/>
              </a:rPr>
              <a:t>(displ, hwy)) </a:t>
            </a:r>
            <a:r>
              <a:rPr>
                <a:solidFill>
                  <a:srgbClr val="5E5E5E"/>
                </a:solidFill>
                <a:latin typeface="Courier"/>
              </a:rPr>
              <a:t>+</a:t>
            </a:r>
            <a:r>
              <a:rPr>
                <a:solidFill>
                  <a:srgbClr val="003B4F"/>
                </a:solidFill>
                <a:latin typeface="Courier"/>
              </a:rPr>
              <a:t> </a:t>
            </a:r>
            <a:r>
              <a:rPr>
                <a:solidFill>
                  <a:srgbClr val="4758AB"/>
                </a:solidFill>
                <a:latin typeface="Courier"/>
              </a:rPr>
              <a:t>geom_point</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colour =</a:t>
            </a:r>
            <a:r>
              <a:rPr>
                <a:solidFill>
                  <a:srgbClr val="003B4F"/>
                </a:solidFill>
                <a:latin typeface="Courier"/>
              </a:rPr>
              <a:t> </a:t>
            </a:r>
            <a:r>
              <a:rPr>
                <a:solidFill>
                  <a:srgbClr val="20794D"/>
                </a:solidFill>
                <a:latin typeface="Courier"/>
              </a:rPr>
              <a:t>"blue"</a:t>
            </a:r>
            <a:r>
              <a:rPr>
                <a:solidFill>
                  <a:srgbClr val="003B4F"/>
                </a:solidFill>
                <a:latin typeface="Courier"/>
              </a:rPr>
              <a:t>))</a:t>
            </a:r>
            <a:br/>
            <a:r>
              <a:rPr>
                <a:solidFill>
                  <a:srgbClr val="4758AB"/>
                </a:solidFill>
                <a:latin typeface="Courier"/>
              </a:rPr>
              <a:t>ggplot</a:t>
            </a:r>
            <a:r>
              <a:rPr>
                <a:solidFill>
                  <a:srgbClr val="003B4F"/>
                </a:solidFill>
                <a:latin typeface="Courier"/>
              </a:rPr>
              <a:t>(mpg, </a:t>
            </a:r>
            <a:r>
              <a:rPr>
                <a:solidFill>
                  <a:srgbClr val="4758AB"/>
                </a:solidFill>
                <a:latin typeface="Courier"/>
              </a:rPr>
              <a:t>aes</a:t>
            </a:r>
            <a:r>
              <a:rPr>
                <a:solidFill>
                  <a:srgbClr val="003B4F"/>
                </a:solidFill>
                <a:latin typeface="Courier"/>
              </a:rPr>
              <a:t>(displ, hwy)) </a:t>
            </a:r>
            <a:r>
              <a:rPr>
                <a:solidFill>
                  <a:srgbClr val="5E5E5E"/>
                </a:solidFill>
                <a:latin typeface="Courier"/>
              </a:rPr>
              <a:t>+</a:t>
            </a:r>
            <a:r>
              <a:rPr>
                <a:solidFill>
                  <a:srgbClr val="003B4F"/>
                </a:solidFill>
                <a:latin typeface="Courier"/>
              </a:rPr>
              <a:t> </a:t>
            </a:r>
            <a:r>
              <a:rPr>
                <a:solidFill>
                  <a:srgbClr val="4758AB"/>
                </a:solidFill>
                <a:latin typeface="Courier"/>
              </a:rPr>
              <a:t>geom_point</a:t>
            </a:r>
            <a:r>
              <a:rPr>
                <a:solidFill>
                  <a:srgbClr val="003B4F"/>
                </a:solidFill>
                <a:latin typeface="Courier"/>
              </a:rPr>
              <a:t>(</a:t>
            </a:r>
            <a:r>
              <a:rPr>
                <a:solidFill>
                  <a:srgbClr val="657422"/>
                </a:solidFill>
                <a:latin typeface="Courier"/>
              </a:rPr>
              <a:t>colour =</a:t>
            </a:r>
            <a:r>
              <a:rPr>
                <a:solidFill>
                  <a:srgbClr val="003B4F"/>
                </a:solidFill>
                <a:latin typeface="Courier"/>
              </a:rPr>
              <a:t> </a:t>
            </a:r>
            <a:r>
              <a:rPr>
                <a:solidFill>
                  <a:srgbClr val="20794D"/>
                </a:solidFill>
                <a:latin typeface="Courier"/>
              </a:rPr>
              <a:t>"blue"</a:t>
            </a:r>
            <a:r>
              <a:rPr>
                <a:solidFill>
                  <a:srgbClr val="003B4F"/>
                </a:solidFill>
                <a:latin typeface="Courier"/>
              </a:rPr>
              <a:t>)</a:t>
            </a:r>
          </a:p>
        </p:txBody>
      </p:sp>
      <p:pic>
        <p:nvPicPr>
          <p:cNvPr descr="ch2_files/figure-pptx/unnamed-chunk-6-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In the first plot, the value “blue” is scaled to a pinkish colour, and a legend is added. In the second plot, the points are given the R colour blue. This is an important technique and you’ll learn more about it in Section 13.4.2. See vignette(“</a:t>
            </a:r>
            <a:r>
              <a:rPr>
                <a:latin typeface="Courier"/>
              </a:rPr>
              <a:t>ggplot2</a:t>
            </a:r>
            <a:r>
              <a:rPr/>
              <a:t>-specs”) for the values needed for colour and other aesthetics.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Different types of aesthetic attributes work better with different types of variables. For example, colour and shape work well with categorical variables, while size works well for continuous variables. The amount of data also makes a difference: if there is a lot of data it can be hard to distinguish different groups. An alternative solution is to use faceting, as described next.</a:t>
            </a:r>
          </a:p>
          <a:p>
            <a:pPr lvl="0" indent="0" marL="0">
              <a:buNone/>
            </a:pPr>
            <a:r>
              <a:rPr/>
              <a:t>When using aesthetics in a plot, less is usually more. It’s difficult to see the simultaneous relationships among colour and shape and size, so exercise restraint when using aesthetics. Instead of trying to make one very complex plot that shows everything at once, see if you can create a series of simple plots that tell a story, leading the reader from ignorance to knowledge.</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a:t>
            </a:r>
          </a:p>
        </p:txBody>
      </p:sp>
      <p:sp>
        <p:nvSpPr>
          <p:cNvPr id="3" name="Content Placeholder 2"/>
          <p:cNvSpPr>
            <a:spLocks noGrp="1"/>
          </p:cNvSpPr>
          <p:nvPr>
            <p:ph idx="1"/>
          </p:nvPr>
        </p:nvSpPr>
        <p:spPr/>
        <p:txBody>
          <a:bodyPr/>
          <a:lstStyle/>
          <a:p>
            <a:pPr lvl="0" indent="-342900" marL="342900">
              <a:buAutoNum type="arabicPeriod"/>
            </a:pPr>
            <a:r>
              <a:rPr/>
              <a:t>Experiment with the colour, shape and size aesthetics. What happens when you map them to continuous values? What about categorical values? What happens when you use more than one aesthetic in a plot?</a:t>
            </a:r>
          </a:p>
          <a:p>
            <a:pPr lvl="0" indent="-342900" marL="342900">
              <a:buAutoNum type="arabicPeriod"/>
            </a:pPr>
            <a:r>
              <a:rPr/>
              <a:t>What happens if you map a continuous variable to shape? Why? What happens if you map trans to shape? Why?</a:t>
            </a:r>
          </a:p>
          <a:p>
            <a:pPr lvl="0" indent="-342900" marL="342900">
              <a:buAutoNum type="arabicPeriod"/>
            </a:pPr>
            <a:r>
              <a:rPr/>
              <a:t>How is drive train related to fuel economy? How is drive train related to engine size and class?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Faceting</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Faceting</a:t>
            </a:r>
          </a:p>
        </p:txBody>
      </p:sp>
      <p:sp>
        <p:nvSpPr>
          <p:cNvPr id="3" name="Content Placeholder 2"/>
          <p:cNvSpPr>
            <a:spLocks noGrp="1"/>
          </p:cNvSpPr>
          <p:nvPr>
            <p:ph idx="1"/>
          </p:nvPr>
        </p:nvSpPr>
        <p:spPr/>
        <p:txBody>
          <a:bodyPr/>
          <a:lstStyle/>
          <a:p>
            <a:pPr lvl="0" indent="0" marL="0">
              <a:buNone/>
            </a:pPr>
            <a:r>
              <a:rPr/>
              <a:t>Another technique for displaying additional categorical variables on a plot is faceting. Faceting creates tables of graphics by splitting the data into subsets and displaying the same graph for each subset. You’ll learn more about faceting in Chapter 16, but it’s such a useful technique that you need to know it right away.</a:t>
            </a:r>
          </a:p>
          <a:p>
            <a:pPr lvl="0" indent="0" marL="0">
              <a:buNone/>
            </a:pPr>
            <a:r>
              <a:rPr/>
              <a:t>There are two types of faceting: grid and wrapped. Wrapped is the most useful, so we’ll discuss it here, and you can learn about grid faceting later. To facet a plot you simply add a faceting specification with </a:t>
            </a:r>
            <a:r>
              <a:rPr>
                <a:latin typeface="Courier"/>
              </a:rPr>
              <a:t>facet_wrap()</a:t>
            </a:r>
            <a:r>
              <a:rPr/>
              <a:t>, which takes the name of a variable preceded by </a:t>
            </a:r>
            <a:r>
              <a:rPr>
                <a:latin typeface="Courier"/>
              </a:rPr>
              <a:t>~</a:t>
            </a:r>
            <a:r>
              <a:rPr/>
              <a:t>.</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solidFill>
                  <a:srgbClr val="4758AB"/>
                </a:solidFill>
                <a:latin typeface="Courier"/>
              </a:rPr>
              <a:t>ggplot</a:t>
            </a:r>
            <a:r>
              <a:rPr>
                <a:solidFill>
                  <a:srgbClr val="003B4F"/>
                </a:solidFill>
                <a:latin typeface="Courier"/>
              </a:rPr>
              <a:t>(mpg, </a:t>
            </a:r>
            <a:r>
              <a:rPr>
                <a:solidFill>
                  <a:srgbClr val="4758AB"/>
                </a:solidFill>
                <a:latin typeface="Courier"/>
              </a:rPr>
              <a:t>aes</a:t>
            </a:r>
            <a:r>
              <a:rPr>
                <a:solidFill>
                  <a:srgbClr val="003B4F"/>
                </a:solidFill>
                <a:latin typeface="Courier"/>
              </a:rPr>
              <a:t>(displ, hwy))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geom_point</a:t>
            </a:r>
            <a:r>
              <a:rPr>
                <a:solidFill>
                  <a:srgbClr val="003B4F"/>
                </a:solidFill>
                <a:latin typeface="Courier"/>
              </a:rPr>
              <a:t>()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facet_wrap</a:t>
            </a:r>
            <a:r>
              <a:rPr>
                <a:solidFill>
                  <a:srgbClr val="003B4F"/>
                </a:solidFill>
                <a:latin typeface="Courier"/>
              </a:rPr>
              <a:t>(</a:t>
            </a:r>
            <a:r>
              <a:rPr>
                <a:solidFill>
                  <a:srgbClr val="5E5E5E"/>
                </a:solidFill>
                <a:latin typeface="Courier"/>
              </a:rPr>
              <a:t>~</a:t>
            </a:r>
            <a:r>
              <a:rPr>
                <a:solidFill>
                  <a:srgbClr val="003B4F"/>
                </a:solidFill>
                <a:latin typeface="Courier"/>
              </a:rPr>
              <a:t>class)</a:t>
            </a:r>
          </a:p>
        </p:txBody>
      </p:sp>
      <p:pic>
        <p:nvPicPr>
          <p:cNvPr descr="ch2_files/figure-pptx/unnamed-chunk-7-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You might wonder when to use faceting and when to use aesthetics. You’ll learn more about the relative advantages and disadvantages of each in Section 16.5.</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Exercises</a:t>
            </a:r>
          </a:p>
        </p:txBody>
      </p:sp>
      <p:sp>
        <p:nvSpPr>
          <p:cNvPr id="3" name="Content Placeholder 2"/>
          <p:cNvSpPr>
            <a:spLocks noGrp="1"/>
          </p:cNvSpPr>
          <p:nvPr>
            <p:ph idx="1"/>
          </p:nvPr>
        </p:nvSpPr>
        <p:spPr/>
        <p:txBody>
          <a:bodyPr/>
          <a:lstStyle/>
          <a:p>
            <a:pPr lvl="0" indent="-342900" marL="342900">
              <a:buAutoNum type="arabicPeriod"/>
            </a:pPr>
            <a:r>
              <a:rPr/>
              <a:t>What happens if you try to facet by a continuous variable like </a:t>
            </a:r>
            <a:r>
              <a:rPr>
                <a:latin typeface="Courier"/>
              </a:rPr>
              <a:t>hwy</a:t>
            </a:r>
            <a:r>
              <a:rPr/>
              <a:t>? What about </a:t>
            </a:r>
            <a:r>
              <a:rPr>
                <a:latin typeface="Courier"/>
              </a:rPr>
              <a:t>cyl</a:t>
            </a:r>
            <a:r>
              <a:rPr/>
              <a:t>? What’s the key difference?</a:t>
            </a:r>
          </a:p>
          <a:p>
            <a:pPr lvl="0" indent="-342900" marL="342900">
              <a:buAutoNum type="arabicPeriod"/>
            </a:pPr>
            <a:r>
              <a:rPr/>
              <a:t>Use faceting to explore the 3-way relationship between fuel economy, engine size, and number of cylinders. How does faceting by number of cylinders change your assessement of the relationship between engine size and fuel economy?</a:t>
            </a:r>
          </a:p>
          <a:p>
            <a:pPr lvl="0" indent="-342900" marL="342900">
              <a:buAutoNum type="arabicPeriod"/>
            </a:pPr>
            <a:r>
              <a:rPr/>
              <a:t>Read the documentation for </a:t>
            </a:r>
            <a:r>
              <a:rPr>
                <a:latin typeface="Courier"/>
              </a:rPr>
              <a:t>facet_wrap()</a:t>
            </a:r>
            <a:r>
              <a:rPr/>
              <a:t>. What arguments can you use to control how many rows and columns appear in the output?</a:t>
            </a:r>
          </a:p>
          <a:p>
            <a:pPr lvl="0" indent="-342900" marL="342900">
              <a:buAutoNum type="arabicPeriod"/>
            </a:pPr>
            <a:r>
              <a:rPr/>
              <a:t>What does the scales argument to </a:t>
            </a:r>
            <a:r>
              <a:rPr>
                <a:latin typeface="Courier"/>
              </a:rPr>
              <a:t>facet_wrap()</a:t>
            </a:r>
            <a:r>
              <a:rPr/>
              <a:t> do? When might you use it?</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Plot geoms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Plot geoms</a:t>
            </a:r>
          </a:p>
        </p:txBody>
      </p:sp>
      <p:sp>
        <p:nvSpPr>
          <p:cNvPr id="3" name="Content Placeholder 2"/>
          <p:cNvSpPr>
            <a:spLocks noGrp="1"/>
          </p:cNvSpPr>
          <p:nvPr>
            <p:ph idx="1"/>
          </p:nvPr>
        </p:nvSpPr>
        <p:spPr/>
        <p:txBody>
          <a:bodyPr/>
          <a:lstStyle/>
          <a:p>
            <a:pPr lvl="0" indent="0" marL="0">
              <a:buNone/>
            </a:pPr>
            <a:r>
              <a:rPr/>
              <a:t>You might guess that by substituting </a:t>
            </a:r>
            <a:r>
              <a:rPr>
                <a:latin typeface="Courier"/>
              </a:rPr>
              <a:t>geom_point()</a:t>
            </a:r>
            <a:r>
              <a:rPr/>
              <a:t> for a different geom function, you’d get a different type of plot. That’s a great guess! In the following sections, you’ll learn about some of the other important geoms provided in </a:t>
            </a:r>
            <a:r>
              <a:rPr>
                <a:latin typeface="Courier"/>
              </a:rPr>
              <a:t>ggplot2</a:t>
            </a:r>
            <a:r>
              <a:rPr/>
              <a:t>. This isn’t an exhaustive list, but should cover the most commonly used plot types. You’ll learn more in Chapter 3 and Chapter 4.</a:t>
            </a:r>
          </a:p>
          <a:p>
            <a:pPr lvl="0"/>
            <a:r>
              <a:rPr>
                <a:latin typeface="Courier"/>
              </a:rPr>
              <a:t>geom_smooth()</a:t>
            </a:r>
            <a:r>
              <a:rPr/>
              <a:t> fits a smoother to the data and displays the smooth and its standard error.</a:t>
            </a:r>
          </a:p>
          <a:p>
            <a:pPr lvl="0"/>
            <a:r>
              <a:rPr>
                <a:latin typeface="Courier"/>
              </a:rPr>
              <a:t>geom_boxplot()</a:t>
            </a:r>
            <a:r>
              <a:rPr/>
              <a:t> produces a box-and-whisker plot to summarise the distribution of a set of points.</a:t>
            </a:r>
          </a:p>
          <a:p>
            <a:pPr lvl="0"/>
            <a:r>
              <a:rPr>
                <a:latin typeface="Courier"/>
              </a:rPr>
              <a:t>geom_histogram()</a:t>
            </a:r>
            <a:r>
              <a:rPr/>
              <a:t> and </a:t>
            </a:r>
            <a:r>
              <a:rPr>
                <a:latin typeface="Courier"/>
              </a:rPr>
              <a:t>geom_freqpoly()</a:t>
            </a:r>
            <a:r>
              <a:rPr/>
              <a:t> show the distribution of continuous variables.</a:t>
            </a:r>
          </a:p>
          <a:p>
            <a:pPr lvl="0"/>
            <a:r>
              <a:rPr>
                <a:latin typeface="Courier"/>
              </a:rPr>
              <a:t>geom_bar()</a:t>
            </a:r>
            <a:r>
              <a:rPr/>
              <a:t> shows the distribution of categorical variables.</a:t>
            </a:r>
          </a:p>
          <a:p>
            <a:pPr lvl="0"/>
            <a:r>
              <a:rPr>
                <a:latin typeface="Courier"/>
              </a:rPr>
              <a:t>geom_path()</a:t>
            </a:r>
            <a:r>
              <a:rPr/>
              <a:t> and </a:t>
            </a:r>
            <a:r>
              <a:rPr>
                <a:latin typeface="Courier"/>
              </a:rPr>
              <a:t>geom_line()</a:t>
            </a:r>
            <a:r>
              <a:rPr/>
              <a:t> draw lines between the data points. A line plot is constrained to produce lines that travel from left to right, while paths can go in any direction. Lines are typically used to explore how things change over time.</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Adding a smoother to a plot</a:t>
            </a:r>
          </a:p>
        </p:txBody>
      </p:sp>
      <p:sp>
        <p:nvSpPr>
          <p:cNvPr id="4" name="Text Placeholder 3"/>
          <p:cNvSpPr>
            <a:spLocks noGrp="1"/>
          </p:cNvSpPr>
          <p:nvPr>
            <p:ph idx="2" sz="half" type="body"/>
          </p:nvPr>
        </p:nvSpPr>
        <p:spPr/>
        <p:txBody>
          <a:bodyPr/>
          <a:lstStyle/>
          <a:p>
            <a:pPr lvl="0" indent="0" marL="0">
              <a:buNone/>
            </a:pPr>
            <a:r>
              <a:rPr/>
              <a:t>If you have a scatterplot with a lot of noise, it can be hard to see the dominant pattern. In this case it’s useful to add a smoothed line to the plot with </a:t>
            </a:r>
            <a:r>
              <a:rPr>
                <a:latin typeface="Courier"/>
              </a:rPr>
              <a:t>geom_smooth()</a:t>
            </a:r>
            <a:r>
              <a:rPr/>
              <a:t>:</a:t>
            </a:r>
          </a:p>
          <a:p>
            <a:pPr lvl="0" indent="0">
              <a:buNone/>
            </a:pPr>
            <a:r>
              <a:rPr>
                <a:solidFill>
                  <a:srgbClr val="4758AB"/>
                </a:solidFill>
                <a:latin typeface="Courier"/>
              </a:rPr>
              <a:t>ggplot</a:t>
            </a:r>
            <a:r>
              <a:rPr>
                <a:solidFill>
                  <a:srgbClr val="003B4F"/>
                </a:solidFill>
                <a:latin typeface="Courier"/>
              </a:rPr>
              <a:t>(mpg, </a:t>
            </a:r>
            <a:r>
              <a:rPr>
                <a:solidFill>
                  <a:srgbClr val="4758AB"/>
                </a:solidFill>
                <a:latin typeface="Courier"/>
              </a:rPr>
              <a:t>aes</a:t>
            </a:r>
            <a:r>
              <a:rPr>
                <a:solidFill>
                  <a:srgbClr val="003B4F"/>
                </a:solidFill>
                <a:latin typeface="Courier"/>
              </a:rPr>
              <a:t>(displ, hwy))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geom_point</a:t>
            </a:r>
            <a:r>
              <a:rPr>
                <a:solidFill>
                  <a:srgbClr val="003B4F"/>
                </a:solidFill>
                <a:latin typeface="Courier"/>
              </a:rPr>
              <a:t>()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geom_smooth</a:t>
            </a:r>
            <a:r>
              <a:rPr>
                <a:solidFill>
                  <a:srgbClr val="003B4F"/>
                </a:solidFill>
                <a:latin typeface="Courier"/>
              </a:rPr>
              <a:t>()</a:t>
            </a:r>
          </a:p>
        </p:txBody>
      </p:sp>
      <p:pic>
        <p:nvPicPr>
          <p:cNvPr descr="ch2_files/figure-pptx/unnamed-chunk-8-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This overlays the scatterplot with a smooth curve, including an assessment of uncertainty in the form of point-wise confidence intervals shown in grey. If you’re not interested in the confidence interval, turn it off with </a:t>
            </a:r>
            <a:r>
              <a:rPr>
                <a:latin typeface="Courier"/>
              </a:rPr>
              <a:t>geom_smooth(se = FALSE)</a:t>
            </a:r>
            <a:r>
              <a:rPr/>
              <a:t>.</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An important argument to </a:t>
            </a:r>
            <a:r>
              <a:rPr>
                <a:latin typeface="Courier"/>
              </a:rPr>
              <a:t>geom_smooth()</a:t>
            </a:r>
            <a:r>
              <a:rPr/>
              <a:t> is the method, which allows you to choose which type of model is used to fit the smooth curve:</a:t>
            </a:r>
          </a:p>
          <a:p>
            <a:pPr lvl="0" indent="0" marL="0">
              <a:buNone/>
            </a:pPr>
            <a:r>
              <a:rPr b="1"/>
              <a:t>Locally estimated scatterplot smoothing (</a:t>
            </a:r>
            <a:r>
              <a:rPr b="1">
                <a:latin typeface="Courier"/>
              </a:rPr>
              <a:t>loess</a:t>
            </a:r>
            <a:r>
              <a:rPr b="1"/>
              <a:t>)</a:t>
            </a:r>
          </a:p>
          <a:p>
            <a:pPr lvl="0"/>
            <a:r>
              <a:rPr>
                <a:latin typeface="Courier"/>
              </a:rPr>
              <a:t>method = "loess"</a:t>
            </a:r>
            <a:r>
              <a:rPr/>
              <a:t>, the default for small n, uses a smooth local regression (as described in </a:t>
            </a:r>
            <a:r>
              <a:rPr>
                <a:latin typeface="Courier"/>
              </a:rPr>
              <a:t>?loess</a:t>
            </a:r>
            <a:r>
              <a:rPr/>
              <a:t>). The wiggliness of the line is controlled by the </a:t>
            </a:r>
            <a:r>
              <a:rPr>
                <a:latin typeface="Courier"/>
              </a:rPr>
              <a:t>span</a:t>
            </a:r>
            <a:r>
              <a:rPr/>
              <a:t> parameter, which ranges from 0 (exceedingly wiggly) to 1 (not so wiggly).</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solidFill>
                  <a:srgbClr val="4758AB"/>
                </a:solidFill>
                <a:latin typeface="Courier"/>
              </a:rPr>
              <a:t>ggplot</a:t>
            </a:r>
            <a:r>
              <a:rPr>
                <a:solidFill>
                  <a:srgbClr val="003B4F"/>
                </a:solidFill>
                <a:latin typeface="Courier"/>
              </a:rPr>
              <a:t>(mpg, </a:t>
            </a:r>
            <a:r>
              <a:rPr>
                <a:solidFill>
                  <a:srgbClr val="4758AB"/>
                </a:solidFill>
                <a:latin typeface="Courier"/>
              </a:rPr>
              <a:t>aes</a:t>
            </a:r>
            <a:r>
              <a:rPr>
                <a:solidFill>
                  <a:srgbClr val="003B4F"/>
                </a:solidFill>
                <a:latin typeface="Courier"/>
              </a:rPr>
              <a:t>(displ, hwy))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geom_point</a:t>
            </a:r>
            <a:r>
              <a:rPr>
                <a:solidFill>
                  <a:srgbClr val="003B4F"/>
                </a:solidFill>
                <a:latin typeface="Courier"/>
              </a:rPr>
              <a:t>()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geom_smooth</a:t>
            </a:r>
            <a:r>
              <a:rPr>
                <a:solidFill>
                  <a:srgbClr val="003B4F"/>
                </a:solidFill>
                <a:latin typeface="Courier"/>
              </a:rPr>
              <a:t>(</a:t>
            </a:r>
            <a:r>
              <a:rPr>
                <a:solidFill>
                  <a:srgbClr val="657422"/>
                </a:solidFill>
                <a:latin typeface="Courier"/>
              </a:rPr>
              <a:t>span =</a:t>
            </a:r>
            <a:r>
              <a:rPr>
                <a:solidFill>
                  <a:srgbClr val="003B4F"/>
                </a:solidFill>
                <a:latin typeface="Courier"/>
              </a:rPr>
              <a:t> </a:t>
            </a:r>
            <a:r>
              <a:rPr>
                <a:solidFill>
                  <a:srgbClr val="AD0000"/>
                </a:solidFill>
                <a:latin typeface="Courier"/>
              </a:rPr>
              <a:t>0.2</a:t>
            </a:r>
            <a:r>
              <a:rPr>
                <a:solidFill>
                  <a:srgbClr val="003B4F"/>
                </a:solidFill>
                <a:latin typeface="Courier"/>
              </a:rPr>
              <a:t>)</a:t>
            </a:r>
            <a:br/>
            <a:br/>
            <a:r>
              <a:rPr>
                <a:solidFill>
                  <a:srgbClr val="4758AB"/>
                </a:solidFill>
                <a:latin typeface="Courier"/>
              </a:rPr>
              <a:t>ggplot</a:t>
            </a:r>
            <a:r>
              <a:rPr>
                <a:solidFill>
                  <a:srgbClr val="003B4F"/>
                </a:solidFill>
                <a:latin typeface="Courier"/>
              </a:rPr>
              <a:t>(mpg, </a:t>
            </a:r>
            <a:r>
              <a:rPr>
                <a:solidFill>
                  <a:srgbClr val="4758AB"/>
                </a:solidFill>
                <a:latin typeface="Courier"/>
              </a:rPr>
              <a:t>aes</a:t>
            </a:r>
            <a:r>
              <a:rPr>
                <a:solidFill>
                  <a:srgbClr val="003B4F"/>
                </a:solidFill>
                <a:latin typeface="Courier"/>
              </a:rPr>
              <a:t>(displ, hwy))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geom_point</a:t>
            </a:r>
            <a:r>
              <a:rPr>
                <a:solidFill>
                  <a:srgbClr val="003B4F"/>
                </a:solidFill>
                <a:latin typeface="Courier"/>
              </a:rPr>
              <a:t>()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geom_smooth</a:t>
            </a:r>
            <a:r>
              <a:rPr>
                <a:solidFill>
                  <a:srgbClr val="003B4F"/>
                </a:solidFill>
                <a:latin typeface="Courier"/>
              </a:rPr>
              <a:t>(</a:t>
            </a:r>
            <a:r>
              <a:rPr>
                <a:solidFill>
                  <a:srgbClr val="657422"/>
                </a:solidFill>
                <a:latin typeface="Courier"/>
              </a:rPr>
              <a:t>span =</a:t>
            </a:r>
            <a:r>
              <a:rPr>
                <a:solidFill>
                  <a:srgbClr val="003B4F"/>
                </a:solidFill>
                <a:latin typeface="Courier"/>
              </a:rPr>
              <a:t> </a:t>
            </a:r>
            <a:r>
              <a:rPr>
                <a:solidFill>
                  <a:srgbClr val="AD0000"/>
                </a:solidFill>
                <a:latin typeface="Courier"/>
              </a:rPr>
              <a:t>1</a:t>
            </a:r>
            <a:r>
              <a:rPr>
                <a:solidFill>
                  <a:srgbClr val="003B4F"/>
                </a:solidFill>
                <a:latin typeface="Courier"/>
              </a:rPr>
              <a:t>)</a:t>
            </a:r>
          </a:p>
        </p:txBody>
      </p:sp>
      <p:pic>
        <p:nvPicPr>
          <p:cNvPr descr="ch2_files/figure-pptx/unnamed-chunk-10-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Loess does not work well for large datasets (it’s </a:t>
                </a:r>
                <a14:m>
                  <m:oMath xmlns:m="http://schemas.openxmlformats.org/officeDocument/2006/math">
                    <m:r>
                      <m:t>O</m:t>
                    </m:r>
                    <m:d>
                      <m:dPr>
                        <m:begChr m:val="("/>
                        <m:sepChr m:val=""/>
                        <m:endChr m:val=")"/>
                        <m:grow/>
                      </m:dPr>
                      <m:e>
                        <m:sSup>
                          <m:e>
                            <m:r>
                              <m:t>n</m:t>
                            </m:r>
                          </m:e>
                          <m:sup>
                            <m:r>
                              <m:t>2</m:t>
                            </m:r>
                          </m:sup>
                        </m:sSup>
                      </m:e>
                    </m:d>
                  </m:oMath>
                </a14:m>
                <a:r>
                  <a:rPr/>
                  <a:t> in memory), so an alternative smoothing algorithm is used when </a:t>
                </a:r>
                <a14:m>
                  <m:oMath xmlns:m="http://schemas.openxmlformats.org/officeDocument/2006/math">
                    <m:r>
                      <m:t>n</m:t>
                    </m:r>
                  </m:oMath>
                </a14:m>
                <a:r>
                  <a:rPr/>
                  <a:t> is greater than </a:t>
                </a:r>
                <a14:m>
                  <m:oMath xmlns:m="http://schemas.openxmlformats.org/officeDocument/2006/math">
                    <m:r>
                      <m:t>1</m:t>
                    </m:r>
                    <m:r>
                      <m:rPr>
                        <m:sty m:val="p"/>
                      </m:rPr>
                      <m:t>,</m:t>
                    </m:r>
                    <m:r>
                      <m:t>000</m:t>
                    </m:r>
                  </m:oMath>
                </a14:m>
                <a:r>
                  <a:rPr/>
                  <a:t>.</a:t>
                </a:r>
              </a:p>
            </p:txBody>
          </p:sp>
        </mc:Choice>
      </mc:AlternateContent>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Generalized additive model (</a:t>
            </a:r>
            <a:r>
              <a:rPr b="1">
                <a:latin typeface="Courier"/>
              </a:rPr>
              <a:t>gam</a:t>
            </a:r>
            <a:r>
              <a:rPr b="1"/>
              <a:t>)</a:t>
            </a:r>
          </a:p>
          <a:p>
            <a:pPr lvl="0"/>
            <a:r>
              <a:rPr>
                <a:latin typeface="Courier"/>
              </a:rPr>
              <a:t>method = "gam</a:t>
            </a:r>
            <a:r>
              <a:rPr/>
              <a:t>” fits a generalised additive model provided by the </a:t>
            </a:r>
            <a:r>
              <a:rPr>
                <a:latin typeface="Courier"/>
              </a:rPr>
              <a:t>mgcv</a:t>
            </a:r>
            <a:r>
              <a:rPr/>
              <a:t> package. You need to first load </a:t>
            </a:r>
            <a:r>
              <a:rPr>
                <a:latin typeface="Courier"/>
              </a:rPr>
              <a:t>mgcv</a:t>
            </a:r>
            <a:r>
              <a:rPr/>
              <a:t>, then use a formula like formula = </a:t>
            </a:r>
            <a:r>
              <a:rPr>
                <a:latin typeface="Courier"/>
              </a:rPr>
              <a:t>y ~ s(x)</a:t>
            </a:r>
            <a:r>
              <a:rPr/>
              <a:t> or </a:t>
            </a:r>
            <a:r>
              <a:rPr>
                <a:latin typeface="Courier"/>
              </a:rPr>
              <a:t>y ~ s(x, bs = "cs")</a:t>
            </a:r>
            <a:r>
              <a:rPr/>
              <a:t> (for large data). This is what </a:t>
            </a:r>
            <a:r>
              <a:rPr>
                <a:latin typeface="Courier"/>
              </a:rPr>
              <a:t>ggplot2</a:t>
            </a:r>
            <a:r>
              <a:rPr/>
              <a:t> uses when there are more than 1,000 points.</a:t>
            </a:r>
          </a:p>
          <a:p>
            <a:pPr lvl="0" indent="0">
              <a:buNone/>
            </a:pPr>
            <a:r>
              <a:rPr>
                <a:solidFill>
                  <a:srgbClr val="4758AB"/>
                </a:solidFill>
                <a:latin typeface="Courier"/>
              </a:rPr>
              <a:t>library</a:t>
            </a:r>
            <a:r>
              <a:rPr>
                <a:solidFill>
                  <a:srgbClr val="003B4F"/>
                </a:solidFill>
                <a:latin typeface="Courier"/>
              </a:rPr>
              <a:t>(mgcv)</a:t>
            </a:r>
            <a:br/>
            <a:r>
              <a:rPr>
                <a:solidFill>
                  <a:srgbClr val="4758AB"/>
                </a:solidFill>
                <a:latin typeface="Courier"/>
              </a:rPr>
              <a:t>ggplot</a:t>
            </a:r>
            <a:r>
              <a:rPr>
                <a:solidFill>
                  <a:srgbClr val="003B4F"/>
                </a:solidFill>
                <a:latin typeface="Courier"/>
              </a:rPr>
              <a:t>(mpg, </a:t>
            </a:r>
            <a:r>
              <a:rPr>
                <a:solidFill>
                  <a:srgbClr val="4758AB"/>
                </a:solidFill>
                <a:latin typeface="Courier"/>
              </a:rPr>
              <a:t>aes</a:t>
            </a:r>
            <a:r>
              <a:rPr>
                <a:solidFill>
                  <a:srgbClr val="003B4F"/>
                </a:solidFill>
                <a:latin typeface="Courier"/>
              </a:rPr>
              <a:t>(displ, hwy))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geom_point</a:t>
            </a:r>
            <a:r>
              <a:rPr>
                <a:solidFill>
                  <a:srgbClr val="003B4F"/>
                </a:solidFill>
                <a:latin typeface="Courier"/>
              </a:rPr>
              <a:t>()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geom_smooth</a:t>
            </a:r>
            <a:r>
              <a:rPr>
                <a:solidFill>
                  <a:srgbClr val="003B4F"/>
                </a:solidFill>
                <a:latin typeface="Courier"/>
              </a:rPr>
              <a:t>(</a:t>
            </a:r>
            <a:r>
              <a:rPr>
                <a:solidFill>
                  <a:srgbClr val="657422"/>
                </a:solidFill>
                <a:latin typeface="Courier"/>
              </a:rPr>
              <a:t>method =</a:t>
            </a:r>
            <a:r>
              <a:rPr>
                <a:solidFill>
                  <a:srgbClr val="003B4F"/>
                </a:solidFill>
                <a:latin typeface="Courier"/>
              </a:rPr>
              <a:t> </a:t>
            </a:r>
            <a:r>
              <a:rPr>
                <a:solidFill>
                  <a:srgbClr val="20794D"/>
                </a:solidFill>
                <a:latin typeface="Courier"/>
              </a:rPr>
              <a:t>"gam"</a:t>
            </a:r>
            <a:r>
              <a:rPr>
                <a:solidFill>
                  <a:srgbClr val="003B4F"/>
                </a:solidFill>
                <a:latin typeface="Courier"/>
              </a:rPr>
              <a:t>, </a:t>
            </a:r>
            <a:r>
              <a:rPr>
                <a:solidFill>
                  <a:srgbClr val="657422"/>
                </a:solidFill>
                <a:latin typeface="Courier"/>
              </a:rPr>
              <a:t>formula =</a:t>
            </a:r>
            <a:r>
              <a:rPr>
                <a:solidFill>
                  <a:srgbClr val="003B4F"/>
                </a:solidFill>
                <a:latin typeface="Courier"/>
              </a:rPr>
              <a:t> y </a:t>
            </a:r>
            <a:r>
              <a:rPr>
                <a:solidFill>
                  <a:srgbClr val="5E5E5E"/>
                </a:solidFill>
                <a:latin typeface="Courier"/>
              </a:rPr>
              <a:t>~</a:t>
            </a:r>
            <a:r>
              <a:rPr>
                <a:solidFill>
                  <a:srgbClr val="003B4F"/>
                </a:solidFill>
                <a:latin typeface="Courier"/>
              </a:rPr>
              <a:t> </a:t>
            </a:r>
            <a:r>
              <a:rPr>
                <a:solidFill>
                  <a:srgbClr val="4758AB"/>
                </a:solidFill>
                <a:latin typeface="Courier"/>
              </a:rPr>
              <a:t>s</a:t>
            </a:r>
            <a:r>
              <a:rPr>
                <a:solidFill>
                  <a:srgbClr val="003B4F"/>
                </a:solidFill>
                <a:latin typeface="Courier"/>
              </a:rPr>
              <a:t>(x))</a:t>
            </a:r>
          </a:p>
        </p:txBody>
      </p:sp>
      <p:pic>
        <p:nvPicPr>
          <p:cNvPr descr="ch2_files/figure-pptx/unnamed-chunk-11-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Linear model (</a:t>
            </a:r>
            <a:r>
              <a:rPr b="1">
                <a:latin typeface="Courier"/>
              </a:rPr>
              <a:t>lm</a:t>
            </a:r>
            <a:r>
              <a:rPr b="1"/>
              <a:t>)</a:t>
            </a:r>
          </a:p>
          <a:p>
            <a:pPr lvl="0"/>
            <a:r>
              <a:rPr>
                <a:latin typeface="Courier"/>
              </a:rPr>
              <a:t>method = "lm"</a:t>
            </a:r>
            <a:r>
              <a:rPr/>
              <a:t> fits a linear model, giving the line of best fit.</a:t>
            </a:r>
          </a:p>
          <a:p>
            <a:pPr lvl="0" indent="0">
              <a:buNone/>
            </a:pPr>
            <a:r>
              <a:rPr>
                <a:solidFill>
                  <a:srgbClr val="4758AB"/>
                </a:solidFill>
                <a:latin typeface="Courier"/>
              </a:rPr>
              <a:t>ggplot</a:t>
            </a:r>
            <a:r>
              <a:rPr>
                <a:solidFill>
                  <a:srgbClr val="003B4F"/>
                </a:solidFill>
                <a:latin typeface="Courier"/>
              </a:rPr>
              <a:t>(mpg, </a:t>
            </a:r>
            <a:r>
              <a:rPr>
                <a:solidFill>
                  <a:srgbClr val="4758AB"/>
                </a:solidFill>
                <a:latin typeface="Courier"/>
              </a:rPr>
              <a:t>aes</a:t>
            </a:r>
            <a:r>
              <a:rPr>
                <a:solidFill>
                  <a:srgbClr val="003B4F"/>
                </a:solidFill>
                <a:latin typeface="Courier"/>
              </a:rPr>
              <a:t>(displ, hwy))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geom_point</a:t>
            </a:r>
            <a:r>
              <a:rPr>
                <a:solidFill>
                  <a:srgbClr val="003B4F"/>
                </a:solidFill>
                <a:latin typeface="Courier"/>
              </a:rPr>
              <a:t>()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geom_smooth</a:t>
            </a:r>
            <a:r>
              <a:rPr>
                <a:solidFill>
                  <a:srgbClr val="003B4F"/>
                </a:solidFill>
                <a:latin typeface="Courier"/>
              </a:rPr>
              <a:t>(</a:t>
            </a:r>
            <a:r>
              <a:rPr>
                <a:solidFill>
                  <a:srgbClr val="657422"/>
                </a:solidFill>
                <a:latin typeface="Courier"/>
              </a:rPr>
              <a:t>method =</a:t>
            </a:r>
            <a:r>
              <a:rPr>
                <a:solidFill>
                  <a:srgbClr val="003B4F"/>
                </a:solidFill>
                <a:latin typeface="Courier"/>
              </a:rPr>
              <a:t> </a:t>
            </a:r>
            <a:r>
              <a:rPr>
                <a:solidFill>
                  <a:srgbClr val="20794D"/>
                </a:solidFill>
                <a:latin typeface="Courier"/>
              </a:rPr>
              <a:t>"lm"</a:t>
            </a:r>
            <a:r>
              <a:rPr>
                <a:solidFill>
                  <a:srgbClr val="003B4F"/>
                </a:solidFill>
                <a:latin typeface="Courier"/>
              </a:rPr>
              <a:t>)</a:t>
            </a:r>
          </a:p>
        </p:txBody>
      </p:sp>
      <p:pic>
        <p:nvPicPr>
          <p:cNvPr descr="ch2_files/figure-pptx/unnamed-chunk-12-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Boxplots and jittered points</a:t>
            </a:r>
          </a:p>
        </p:txBody>
      </p:sp>
      <p:sp>
        <p:nvSpPr>
          <p:cNvPr id="4" name="Text Placeholder 3"/>
          <p:cNvSpPr>
            <a:spLocks noGrp="1"/>
          </p:cNvSpPr>
          <p:nvPr>
            <p:ph idx="2" sz="half" type="body"/>
          </p:nvPr>
        </p:nvSpPr>
        <p:spPr/>
        <p:txBody>
          <a:bodyPr/>
          <a:lstStyle/>
          <a:p>
            <a:pPr lvl="0" indent="0" marL="0">
              <a:buNone/>
            </a:pPr>
            <a:r>
              <a:rPr/>
              <a:t>When a set of data includes a categorical variable and one or more continuous variables, you will probably be interested to know how the values of the continuous variables vary with the levels of the categorical variable. Say we’re interested in seeing how fuel economy varies within cars that have the same kind of drivetrain. We might start with a scatterplot like this:</a:t>
            </a:r>
          </a:p>
          <a:p>
            <a:pPr lvl="0" indent="0">
              <a:buNone/>
            </a:pPr>
            <a:r>
              <a:rPr>
                <a:solidFill>
                  <a:srgbClr val="4758AB"/>
                </a:solidFill>
                <a:latin typeface="Courier"/>
              </a:rPr>
              <a:t>ggplot</a:t>
            </a:r>
            <a:r>
              <a:rPr>
                <a:solidFill>
                  <a:srgbClr val="003B4F"/>
                </a:solidFill>
                <a:latin typeface="Courier"/>
              </a:rPr>
              <a:t>(mpg, </a:t>
            </a:r>
            <a:r>
              <a:rPr>
                <a:solidFill>
                  <a:srgbClr val="4758AB"/>
                </a:solidFill>
                <a:latin typeface="Courier"/>
              </a:rPr>
              <a:t>aes</a:t>
            </a:r>
            <a:r>
              <a:rPr>
                <a:solidFill>
                  <a:srgbClr val="003B4F"/>
                </a:solidFill>
                <a:latin typeface="Courier"/>
              </a:rPr>
              <a:t>(drv, hwy))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geom_point</a:t>
            </a:r>
            <a:r>
              <a:rPr>
                <a:solidFill>
                  <a:srgbClr val="003B4F"/>
                </a:solidFill>
                <a:latin typeface="Courier"/>
              </a:rPr>
              <a:t>()</a:t>
            </a:r>
          </a:p>
        </p:txBody>
      </p:sp>
      <p:pic>
        <p:nvPicPr>
          <p:cNvPr descr="ch2_files/figure-pptx/unnamed-chunk-13-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Because there are few unique values of both </a:t>
            </a:r>
            <a:r>
              <a:rPr>
                <a:latin typeface="Courier"/>
              </a:rPr>
              <a:t>drv</a:t>
            </a:r>
            <a:r>
              <a:rPr/>
              <a:t> and </a:t>
            </a:r>
            <a:r>
              <a:rPr>
                <a:latin typeface="Courier"/>
              </a:rPr>
              <a:t>hwy</a:t>
            </a:r>
            <a:r>
              <a:rPr/>
              <a:t>, there is a lot of overplotting. Many points are plotted in the same location, and it’s difficult to see the distribution. There are three useful techniques that help alleviate the problem:</a:t>
            </a:r>
          </a:p>
          <a:p>
            <a:pPr lvl="0"/>
            <a:r>
              <a:rPr/>
              <a:t>Jittering, </a:t>
            </a:r>
            <a:r>
              <a:rPr>
                <a:latin typeface="Courier"/>
              </a:rPr>
              <a:t>geom_jitter()</a:t>
            </a:r>
            <a:r>
              <a:rPr/>
              <a:t>, adds a little random noise to the data which can help avoid overplotting.</a:t>
            </a:r>
          </a:p>
          <a:p>
            <a:pPr lvl="0"/>
            <a:r>
              <a:rPr/>
              <a:t>Boxplots, </a:t>
            </a:r>
            <a:r>
              <a:rPr>
                <a:latin typeface="Courier"/>
              </a:rPr>
              <a:t>geom_boxplot()</a:t>
            </a:r>
            <a:r>
              <a:rPr/>
              <a:t>, summarise the shape of the distribution with a handful of summary statistics.</a:t>
            </a:r>
          </a:p>
          <a:p>
            <a:pPr lvl="0"/>
            <a:r>
              <a:rPr/>
              <a:t>Violin plots, </a:t>
            </a:r>
            <a:r>
              <a:rPr>
                <a:latin typeface="Courier"/>
              </a:rPr>
              <a:t>geom_violin()</a:t>
            </a:r>
            <a:r>
              <a:rPr/>
              <a:t>, show a compact representation of the “density” of the distribution, highlighting the areas where more points are found.</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These are illustrated below:</a:t>
            </a:r>
          </a:p>
          <a:p>
            <a:pPr lvl="0" indent="0">
              <a:buNone/>
            </a:pPr>
            <a:r>
              <a:rPr>
                <a:solidFill>
                  <a:srgbClr val="4758AB"/>
                </a:solidFill>
                <a:latin typeface="Courier"/>
              </a:rPr>
              <a:t>ggplot</a:t>
            </a:r>
            <a:r>
              <a:rPr>
                <a:solidFill>
                  <a:srgbClr val="003B4F"/>
                </a:solidFill>
                <a:latin typeface="Courier"/>
              </a:rPr>
              <a:t>(mpg, </a:t>
            </a:r>
            <a:r>
              <a:rPr>
                <a:solidFill>
                  <a:srgbClr val="4758AB"/>
                </a:solidFill>
                <a:latin typeface="Courier"/>
              </a:rPr>
              <a:t>aes</a:t>
            </a:r>
            <a:r>
              <a:rPr>
                <a:solidFill>
                  <a:srgbClr val="003B4F"/>
                </a:solidFill>
                <a:latin typeface="Courier"/>
              </a:rPr>
              <a:t>(drv, hwy)) </a:t>
            </a:r>
            <a:r>
              <a:rPr>
                <a:solidFill>
                  <a:srgbClr val="5E5E5E"/>
                </a:solidFill>
                <a:latin typeface="Courier"/>
              </a:rPr>
              <a:t>+</a:t>
            </a:r>
            <a:r>
              <a:rPr>
                <a:solidFill>
                  <a:srgbClr val="003B4F"/>
                </a:solidFill>
                <a:latin typeface="Courier"/>
              </a:rPr>
              <a:t> </a:t>
            </a:r>
            <a:r>
              <a:rPr>
                <a:solidFill>
                  <a:srgbClr val="4758AB"/>
                </a:solidFill>
                <a:latin typeface="Courier"/>
              </a:rPr>
              <a:t>geom_jitter</a:t>
            </a:r>
            <a:r>
              <a:rPr>
                <a:solidFill>
                  <a:srgbClr val="003B4F"/>
                </a:solidFill>
                <a:latin typeface="Courier"/>
              </a:rPr>
              <a:t>()</a:t>
            </a:r>
            <a:br/>
            <a:r>
              <a:rPr>
                <a:solidFill>
                  <a:srgbClr val="4758AB"/>
                </a:solidFill>
                <a:latin typeface="Courier"/>
              </a:rPr>
              <a:t>ggplot</a:t>
            </a:r>
            <a:r>
              <a:rPr>
                <a:solidFill>
                  <a:srgbClr val="003B4F"/>
                </a:solidFill>
                <a:latin typeface="Courier"/>
              </a:rPr>
              <a:t>(mpg, </a:t>
            </a:r>
            <a:r>
              <a:rPr>
                <a:solidFill>
                  <a:srgbClr val="4758AB"/>
                </a:solidFill>
                <a:latin typeface="Courier"/>
              </a:rPr>
              <a:t>aes</a:t>
            </a:r>
            <a:r>
              <a:rPr>
                <a:solidFill>
                  <a:srgbClr val="003B4F"/>
                </a:solidFill>
                <a:latin typeface="Courier"/>
              </a:rPr>
              <a:t>(drv, hwy)) </a:t>
            </a:r>
            <a:r>
              <a:rPr>
                <a:solidFill>
                  <a:srgbClr val="5E5E5E"/>
                </a:solidFill>
                <a:latin typeface="Courier"/>
              </a:rPr>
              <a:t>+</a:t>
            </a:r>
            <a:r>
              <a:rPr>
                <a:solidFill>
                  <a:srgbClr val="003B4F"/>
                </a:solidFill>
                <a:latin typeface="Courier"/>
              </a:rPr>
              <a:t> </a:t>
            </a:r>
            <a:r>
              <a:rPr>
                <a:solidFill>
                  <a:srgbClr val="4758AB"/>
                </a:solidFill>
                <a:latin typeface="Courier"/>
              </a:rPr>
              <a:t>geom_boxplot</a:t>
            </a:r>
            <a:r>
              <a:rPr>
                <a:solidFill>
                  <a:srgbClr val="003B4F"/>
                </a:solidFill>
                <a:latin typeface="Courier"/>
              </a:rPr>
              <a:t>()</a:t>
            </a:r>
            <a:br/>
            <a:r>
              <a:rPr>
                <a:solidFill>
                  <a:srgbClr val="4758AB"/>
                </a:solidFill>
                <a:latin typeface="Courier"/>
              </a:rPr>
              <a:t>ggplot</a:t>
            </a:r>
            <a:r>
              <a:rPr>
                <a:solidFill>
                  <a:srgbClr val="003B4F"/>
                </a:solidFill>
                <a:latin typeface="Courier"/>
              </a:rPr>
              <a:t>(mpg, </a:t>
            </a:r>
            <a:r>
              <a:rPr>
                <a:solidFill>
                  <a:srgbClr val="4758AB"/>
                </a:solidFill>
                <a:latin typeface="Courier"/>
              </a:rPr>
              <a:t>aes</a:t>
            </a:r>
            <a:r>
              <a:rPr>
                <a:solidFill>
                  <a:srgbClr val="003B4F"/>
                </a:solidFill>
                <a:latin typeface="Courier"/>
              </a:rPr>
              <a:t>(drv, hwy)) </a:t>
            </a:r>
            <a:r>
              <a:rPr>
                <a:solidFill>
                  <a:srgbClr val="5E5E5E"/>
                </a:solidFill>
                <a:latin typeface="Courier"/>
              </a:rPr>
              <a:t>+</a:t>
            </a:r>
            <a:r>
              <a:rPr>
                <a:solidFill>
                  <a:srgbClr val="003B4F"/>
                </a:solidFill>
                <a:latin typeface="Courier"/>
              </a:rPr>
              <a:t> </a:t>
            </a:r>
            <a:r>
              <a:rPr>
                <a:solidFill>
                  <a:srgbClr val="4758AB"/>
                </a:solidFill>
                <a:latin typeface="Courier"/>
              </a:rPr>
              <a:t>geom_violin</a:t>
            </a:r>
            <a:r>
              <a:rPr>
                <a:solidFill>
                  <a:srgbClr val="003B4F"/>
                </a:solidFill>
                <a:latin typeface="Courier"/>
              </a:rPr>
              <a:t>()</a:t>
            </a:r>
          </a:p>
        </p:txBody>
      </p:sp>
      <p:pic>
        <p:nvPicPr>
          <p:cNvPr descr="ch2_files/figure-pptx/unnamed-chunk-15-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Each method has its strengths and weaknesses. Boxplots summarise the bulk of the distribution with only five numbers, while jittered plots show every point but only work with relatively small datasets. Violin plots give the richest display, but rely on the calculation of a density estimate, which can be hard to interpret.</a:t>
            </a:r>
          </a:p>
          <a:p>
            <a:pPr lvl="0" indent="0" marL="0">
              <a:buNone/>
            </a:pPr>
            <a:r>
              <a:rPr/>
              <a:t>For jittered points, </a:t>
            </a:r>
            <a:r>
              <a:rPr>
                <a:latin typeface="Courier"/>
              </a:rPr>
              <a:t>geom_jitter()</a:t>
            </a:r>
            <a:r>
              <a:rPr/>
              <a:t> offers the same control over aesthetics as </a:t>
            </a:r>
            <a:r>
              <a:rPr>
                <a:latin typeface="Courier"/>
              </a:rPr>
              <a:t>geom_point()</a:t>
            </a:r>
            <a:r>
              <a:rPr/>
              <a:t>: size, colour, and shape. For </a:t>
            </a:r>
            <a:r>
              <a:rPr>
                <a:latin typeface="Courier"/>
              </a:rPr>
              <a:t>geom_boxplot()</a:t>
            </a:r>
            <a:r>
              <a:rPr/>
              <a:t> and </a:t>
            </a:r>
            <a:r>
              <a:rPr>
                <a:latin typeface="Courier"/>
              </a:rPr>
              <a:t>geom_violin()</a:t>
            </a:r>
            <a:r>
              <a:rPr/>
              <a:t>, you can control the outline colour or the internal fill colour.</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Histograms and frequency polygons</a:t>
            </a:r>
          </a:p>
        </p:txBody>
      </p:sp>
      <p:sp>
        <p:nvSpPr>
          <p:cNvPr id="3" name="Content Placeholder 2"/>
          <p:cNvSpPr>
            <a:spLocks noGrp="1"/>
          </p:cNvSpPr>
          <p:nvPr>
            <p:ph idx="1"/>
          </p:nvPr>
        </p:nvSpPr>
        <p:spPr/>
        <p:txBody>
          <a:bodyPr/>
          <a:lstStyle/>
          <a:p>
            <a:pPr lvl="0" indent="0" marL="0">
              <a:buNone/>
            </a:pPr>
            <a:r>
              <a:rPr/>
              <a:t>Both histograms and frequency polygons work in the same way: they bin the data, then count the number of observations in each bin. The only difference is the display: histograms use bars and frequency polygons use lines.</a:t>
            </a:r>
          </a:p>
          <a:p>
            <a:pPr lvl="0" indent="0" marL="0">
              <a:buNone/>
            </a:pPr>
            <a:r>
              <a:rPr/>
              <a:t>You can control the width of the bins with the </a:t>
            </a:r>
            <a:r>
              <a:rPr>
                <a:latin typeface="Courier"/>
              </a:rPr>
              <a:t>binwidth</a:t>
            </a:r>
            <a:r>
              <a:rPr/>
              <a:t> argument (if you don’t want evenly spaced bins you can use the </a:t>
            </a:r>
            <a:r>
              <a:rPr>
                <a:latin typeface="Courier"/>
              </a:rPr>
              <a:t>breaks</a:t>
            </a:r>
            <a:r>
              <a:rPr/>
              <a:t> argument). It is </a:t>
            </a:r>
            <a:r>
              <a:rPr b="1"/>
              <a:t>very important</a:t>
            </a:r>
            <a:r>
              <a:rPr/>
              <a:t> to experiment with the bin width. The default just splits your data into 30 bins, which is unlikely to be the best choice. You should always try many bin widths, and you may find you need multiple bin widths to tell the full story of your data.</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solidFill>
                  <a:srgbClr val="4758AB"/>
                </a:solidFill>
                <a:latin typeface="Courier"/>
              </a:rPr>
              <a:t>ggplot</a:t>
            </a:r>
            <a:r>
              <a:rPr>
                <a:solidFill>
                  <a:srgbClr val="003B4F"/>
                </a:solidFill>
                <a:latin typeface="Courier"/>
              </a:rPr>
              <a:t>(mpg, </a:t>
            </a:r>
            <a:r>
              <a:rPr>
                <a:solidFill>
                  <a:srgbClr val="4758AB"/>
                </a:solidFill>
                <a:latin typeface="Courier"/>
              </a:rPr>
              <a:t>aes</a:t>
            </a:r>
            <a:r>
              <a:rPr>
                <a:solidFill>
                  <a:srgbClr val="003B4F"/>
                </a:solidFill>
                <a:latin typeface="Courier"/>
              </a:rPr>
              <a:t>(hwy))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geom_freqpoly</a:t>
            </a:r>
            <a:r>
              <a:rPr>
                <a:solidFill>
                  <a:srgbClr val="003B4F"/>
                </a:solidFill>
                <a:latin typeface="Courier"/>
              </a:rPr>
              <a:t>(</a:t>
            </a:r>
            <a:r>
              <a:rPr>
                <a:solidFill>
                  <a:srgbClr val="657422"/>
                </a:solidFill>
                <a:latin typeface="Courier"/>
              </a:rPr>
              <a:t>binwidth =</a:t>
            </a:r>
            <a:r>
              <a:rPr>
                <a:solidFill>
                  <a:srgbClr val="003B4F"/>
                </a:solidFill>
                <a:latin typeface="Courier"/>
              </a:rPr>
              <a:t> </a:t>
            </a:r>
            <a:r>
              <a:rPr>
                <a:solidFill>
                  <a:srgbClr val="AD0000"/>
                </a:solidFill>
                <a:latin typeface="Courier"/>
              </a:rPr>
              <a:t>2.5</a:t>
            </a:r>
            <a:r>
              <a:rPr>
                <a:solidFill>
                  <a:srgbClr val="003B4F"/>
                </a:solidFill>
                <a:latin typeface="Courier"/>
              </a:rPr>
              <a:t>)</a:t>
            </a:r>
            <a:br/>
            <a:r>
              <a:rPr>
                <a:solidFill>
                  <a:srgbClr val="4758AB"/>
                </a:solidFill>
                <a:latin typeface="Courier"/>
              </a:rPr>
              <a:t>ggplot</a:t>
            </a:r>
            <a:r>
              <a:rPr>
                <a:solidFill>
                  <a:srgbClr val="003B4F"/>
                </a:solidFill>
                <a:latin typeface="Courier"/>
              </a:rPr>
              <a:t>(mpg, </a:t>
            </a:r>
            <a:r>
              <a:rPr>
                <a:solidFill>
                  <a:srgbClr val="4758AB"/>
                </a:solidFill>
                <a:latin typeface="Courier"/>
              </a:rPr>
              <a:t>aes</a:t>
            </a:r>
            <a:r>
              <a:rPr>
                <a:solidFill>
                  <a:srgbClr val="003B4F"/>
                </a:solidFill>
                <a:latin typeface="Courier"/>
              </a:rPr>
              <a:t>(hwy))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geom_freqpoly</a:t>
            </a:r>
            <a:r>
              <a:rPr>
                <a:solidFill>
                  <a:srgbClr val="003B4F"/>
                </a:solidFill>
                <a:latin typeface="Courier"/>
              </a:rPr>
              <a:t>(</a:t>
            </a:r>
            <a:r>
              <a:rPr>
                <a:solidFill>
                  <a:srgbClr val="657422"/>
                </a:solidFill>
                <a:latin typeface="Courier"/>
              </a:rPr>
              <a:t>binwidth =</a:t>
            </a:r>
            <a:r>
              <a:rPr>
                <a:solidFill>
                  <a:srgbClr val="003B4F"/>
                </a:solidFill>
                <a:latin typeface="Courier"/>
              </a:rPr>
              <a:t> </a:t>
            </a:r>
            <a:r>
              <a:rPr>
                <a:solidFill>
                  <a:srgbClr val="AD0000"/>
                </a:solidFill>
                <a:latin typeface="Courier"/>
              </a:rPr>
              <a:t>1</a:t>
            </a:r>
            <a:r>
              <a:rPr>
                <a:solidFill>
                  <a:srgbClr val="003B4F"/>
                </a:solidFill>
                <a:latin typeface="Courier"/>
              </a:rPr>
              <a:t>)</a:t>
            </a:r>
          </a:p>
        </p:txBody>
      </p:sp>
      <p:pic>
        <p:nvPicPr>
          <p:cNvPr descr="ch2_files/figure-pptx/unnamed-chunk-17-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Density plot</a:t>
            </a:r>
          </a:p>
          <a:p>
            <a:pPr lvl="0" indent="0" marL="0">
              <a:buNone/>
            </a:pPr>
            <a:r>
              <a:rPr/>
              <a:t>An alternative to the frequency polygon is the density plot, </a:t>
            </a:r>
            <a:r>
              <a:rPr>
                <a:latin typeface="Courier"/>
              </a:rPr>
              <a:t>geom_density()</a:t>
            </a:r>
            <a:r>
              <a:rPr/>
              <a:t>. A little care is required if you’re using density plots: compared to frequency polygons they are harder to interpret since the underlying computations are more complex. They also make assumptions that are not true for all data, namely that the underlying distribution is continuous, unbounded, and smooth.</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Distributions of different subgroups</a:t>
            </a:r>
          </a:p>
          <a:p>
            <a:pPr lvl="0" indent="0" marL="0">
              <a:buNone/>
            </a:pPr>
            <a:r>
              <a:rPr/>
              <a:t>To compare the distributions of different subgroups, you can map a categorical variable to either fill (for </a:t>
            </a:r>
            <a:r>
              <a:rPr>
                <a:latin typeface="Courier"/>
              </a:rPr>
              <a:t>geom_histogram()</a:t>
            </a:r>
            <a:r>
              <a:rPr/>
              <a:t>) or colour (for </a:t>
            </a:r>
            <a:r>
              <a:rPr>
                <a:latin typeface="Courier"/>
              </a:rPr>
              <a:t>geom_freqpoly()</a:t>
            </a:r>
            <a:r>
              <a:rPr/>
              <a:t>). It’s easier to compare distributions using the frequency polygon because the underlying perceptual task is easier. You can also use faceting: this makes comparisons a little harder, but it’s easier to see the distribution of each group.</a:t>
            </a:r>
          </a:p>
          <a:p>
            <a:pPr lvl="0" indent="0">
              <a:buNone/>
            </a:pPr>
            <a:r>
              <a:rPr>
                <a:solidFill>
                  <a:srgbClr val="4758AB"/>
                </a:solidFill>
                <a:latin typeface="Courier"/>
              </a:rPr>
              <a:t>ggplot</a:t>
            </a:r>
            <a:r>
              <a:rPr>
                <a:solidFill>
                  <a:srgbClr val="003B4F"/>
                </a:solidFill>
                <a:latin typeface="Courier"/>
              </a:rPr>
              <a:t>(mpg, </a:t>
            </a:r>
            <a:r>
              <a:rPr>
                <a:solidFill>
                  <a:srgbClr val="4758AB"/>
                </a:solidFill>
                <a:latin typeface="Courier"/>
              </a:rPr>
              <a:t>aes</a:t>
            </a:r>
            <a:r>
              <a:rPr>
                <a:solidFill>
                  <a:srgbClr val="003B4F"/>
                </a:solidFill>
                <a:latin typeface="Courier"/>
              </a:rPr>
              <a:t>(displ, </a:t>
            </a:r>
            <a:r>
              <a:rPr>
                <a:solidFill>
                  <a:srgbClr val="657422"/>
                </a:solidFill>
                <a:latin typeface="Courier"/>
              </a:rPr>
              <a:t>colour =</a:t>
            </a:r>
            <a:r>
              <a:rPr>
                <a:solidFill>
                  <a:srgbClr val="003B4F"/>
                </a:solidFill>
                <a:latin typeface="Courier"/>
              </a:rPr>
              <a:t> drv))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geom_freqpoly</a:t>
            </a:r>
            <a:r>
              <a:rPr>
                <a:solidFill>
                  <a:srgbClr val="003B4F"/>
                </a:solidFill>
                <a:latin typeface="Courier"/>
              </a:rPr>
              <a:t>(</a:t>
            </a:r>
            <a:r>
              <a:rPr>
                <a:solidFill>
                  <a:srgbClr val="657422"/>
                </a:solidFill>
                <a:latin typeface="Courier"/>
              </a:rPr>
              <a:t>binwidth =</a:t>
            </a:r>
            <a:r>
              <a:rPr>
                <a:solidFill>
                  <a:srgbClr val="003B4F"/>
                </a:solidFill>
                <a:latin typeface="Courier"/>
              </a:rPr>
              <a:t> </a:t>
            </a:r>
            <a:r>
              <a:rPr>
                <a:solidFill>
                  <a:srgbClr val="AD0000"/>
                </a:solidFill>
                <a:latin typeface="Courier"/>
              </a:rPr>
              <a:t>0.5</a:t>
            </a:r>
            <a:r>
              <a:rPr>
                <a:solidFill>
                  <a:srgbClr val="003B4F"/>
                </a:solidFill>
                <a:latin typeface="Courier"/>
              </a:rPr>
              <a:t>)</a:t>
            </a:r>
            <a:br/>
            <a:r>
              <a:rPr>
                <a:solidFill>
                  <a:srgbClr val="4758AB"/>
                </a:solidFill>
                <a:latin typeface="Courier"/>
              </a:rPr>
              <a:t>ggplot</a:t>
            </a:r>
            <a:r>
              <a:rPr>
                <a:solidFill>
                  <a:srgbClr val="003B4F"/>
                </a:solidFill>
                <a:latin typeface="Courier"/>
              </a:rPr>
              <a:t>(mpg, </a:t>
            </a:r>
            <a:r>
              <a:rPr>
                <a:solidFill>
                  <a:srgbClr val="4758AB"/>
                </a:solidFill>
                <a:latin typeface="Courier"/>
              </a:rPr>
              <a:t>aes</a:t>
            </a:r>
            <a:r>
              <a:rPr>
                <a:solidFill>
                  <a:srgbClr val="003B4F"/>
                </a:solidFill>
                <a:latin typeface="Courier"/>
              </a:rPr>
              <a:t>(displ, </a:t>
            </a:r>
            <a:r>
              <a:rPr>
                <a:solidFill>
                  <a:srgbClr val="657422"/>
                </a:solidFill>
                <a:latin typeface="Courier"/>
              </a:rPr>
              <a:t>fill =</a:t>
            </a:r>
            <a:r>
              <a:rPr>
                <a:solidFill>
                  <a:srgbClr val="003B4F"/>
                </a:solidFill>
                <a:latin typeface="Courier"/>
              </a:rPr>
              <a:t> drv))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geom_histogram</a:t>
            </a:r>
            <a:r>
              <a:rPr>
                <a:solidFill>
                  <a:srgbClr val="003B4F"/>
                </a:solidFill>
                <a:latin typeface="Courier"/>
              </a:rPr>
              <a:t>(</a:t>
            </a:r>
            <a:r>
              <a:rPr>
                <a:solidFill>
                  <a:srgbClr val="657422"/>
                </a:solidFill>
                <a:latin typeface="Courier"/>
              </a:rPr>
              <a:t>binwidth =</a:t>
            </a:r>
            <a:r>
              <a:rPr>
                <a:solidFill>
                  <a:srgbClr val="003B4F"/>
                </a:solidFill>
                <a:latin typeface="Courier"/>
              </a:rPr>
              <a:t> </a:t>
            </a:r>
            <a:r>
              <a:rPr>
                <a:solidFill>
                  <a:srgbClr val="AD0000"/>
                </a:solidFill>
                <a:latin typeface="Courier"/>
              </a:rPr>
              <a:t>0.5</a:t>
            </a:r>
            <a:r>
              <a:rPr>
                <a:solidFill>
                  <a:srgbClr val="003B4F"/>
                </a:solidFill>
                <a:latin typeface="Courier"/>
              </a:rPr>
              <a:t>)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facet_wrap</a:t>
            </a:r>
            <a:r>
              <a:rPr>
                <a:solidFill>
                  <a:srgbClr val="003B4F"/>
                </a:solidFill>
                <a:latin typeface="Courier"/>
              </a:rPr>
              <a:t>(</a:t>
            </a:r>
            <a:r>
              <a:rPr>
                <a:solidFill>
                  <a:srgbClr val="5E5E5E"/>
                </a:solidFill>
                <a:latin typeface="Courier"/>
              </a:rPr>
              <a:t>~</a:t>
            </a:r>
            <a:r>
              <a:rPr>
                <a:solidFill>
                  <a:srgbClr val="003B4F"/>
                </a:solidFill>
                <a:latin typeface="Courier"/>
              </a:rPr>
              <a:t>drv, </a:t>
            </a:r>
            <a:r>
              <a:rPr>
                <a:solidFill>
                  <a:srgbClr val="657422"/>
                </a:solidFill>
                <a:latin typeface="Courier"/>
              </a:rPr>
              <a:t>ncol =</a:t>
            </a:r>
            <a:r>
              <a:rPr>
                <a:solidFill>
                  <a:srgbClr val="003B4F"/>
                </a:solidFill>
                <a:latin typeface="Courier"/>
              </a:rPr>
              <a:t> </a:t>
            </a:r>
            <a:r>
              <a:rPr>
                <a:solidFill>
                  <a:srgbClr val="AD0000"/>
                </a:solidFill>
                <a:latin typeface="Courier"/>
              </a:rPr>
              <a:t>1</a:t>
            </a:r>
            <a:r>
              <a:rPr>
                <a:solidFill>
                  <a:srgbClr val="003B4F"/>
                </a:solidFill>
                <a:latin typeface="Courier"/>
              </a:rPr>
              <a:t>)</a:t>
            </a:r>
          </a:p>
        </p:txBody>
      </p:sp>
      <p:pic>
        <p:nvPicPr>
          <p:cNvPr descr="ch2_files/figure-pptx/unnamed-chunk-19-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Bar charts</a:t>
            </a:r>
          </a:p>
        </p:txBody>
      </p:sp>
      <p:sp>
        <p:nvSpPr>
          <p:cNvPr id="4" name="Text Placeholder 3"/>
          <p:cNvSpPr>
            <a:spLocks noGrp="1"/>
          </p:cNvSpPr>
          <p:nvPr>
            <p:ph idx="2" sz="half" type="body"/>
          </p:nvPr>
        </p:nvSpPr>
        <p:spPr/>
        <p:txBody>
          <a:bodyPr/>
          <a:lstStyle/>
          <a:p>
            <a:pPr lvl="0" indent="0" marL="0">
              <a:buNone/>
            </a:pPr>
            <a:r>
              <a:rPr/>
              <a:t>The discrete analogue of the histogram is the bar chart, </a:t>
            </a:r>
            <a:r>
              <a:rPr>
                <a:latin typeface="Courier"/>
              </a:rPr>
              <a:t>geom_bar()</a:t>
            </a:r>
            <a:r>
              <a:rPr/>
              <a:t>. It’s easy to use:</a:t>
            </a:r>
          </a:p>
          <a:p>
            <a:pPr lvl="0" indent="0">
              <a:buNone/>
            </a:pPr>
            <a:r>
              <a:rPr>
                <a:solidFill>
                  <a:srgbClr val="4758AB"/>
                </a:solidFill>
                <a:latin typeface="Courier"/>
              </a:rPr>
              <a:t>ggplot</a:t>
            </a:r>
            <a:r>
              <a:rPr>
                <a:solidFill>
                  <a:srgbClr val="003B4F"/>
                </a:solidFill>
                <a:latin typeface="Courier"/>
              </a:rPr>
              <a:t>(mpg, </a:t>
            </a:r>
            <a:r>
              <a:rPr>
                <a:solidFill>
                  <a:srgbClr val="4758AB"/>
                </a:solidFill>
                <a:latin typeface="Courier"/>
              </a:rPr>
              <a:t>aes</a:t>
            </a:r>
            <a:r>
              <a:rPr>
                <a:solidFill>
                  <a:srgbClr val="003B4F"/>
                </a:solidFill>
                <a:latin typeface="Courier"/>
              </a:rPr>
              <a:t>(manufacturer))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geom_bar</a:t>
            </a:r>
            <a:r>
              <a:rPr>
                <a:solidFill>
                  <a:srgbClr val="003B4F"/>
                </a:solidFill>
                <a:latin typeface="Courier"/>
              </a:rPr>
              <a:t>()</a:t>
            </a:r>
          </a:p>
        </p:txBody>
      </p:sp>
      <p:pic>
        <p:nvPicPr>
          <p:cNvPr descr="ch2_files/figure-pptx/unnamed-chunk-20-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(You’ll learn how to fix the labels in Section 17.4.2).</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Bar charts can be confusing because there are two rather different plots that are both commonly called bar charts. The above form expects you to have unsummarised data, and each observation contributes one unit to the height of each bar. The other form of bar chart is used for presummarised data. For example, you might have three drugs with their average effect:</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To display this sort of data, you need to tell </a:t>
            </a:r>
            <a:r>
              <a:rPr>
                <a:latin typeface="Courier"/>
              </a:rPr>
              <a:t>geom_bar()</a:t>
            </a:r>
            <a:r>
              <a:rPr/>
              <a:t> to not run the default stat which bins and counts the data. However, we think it’s even better to use </a:t>
            </a:r>
            <a:r>
              <a:rPr>
                <a:latin typeface="Courier"/>
              </a:rPr>
              <a:t>geom_point()</a:t>
            </a:r>
            <a:r>
              <a:rPr/>
              <a:t> because points take up less space than bars, and don’t require that the y axis includes 0.</a:t>
            </a:r>
          </a:p>
          <a:p>
            <a:pPr lvl="0" indent="0">
              <a:buNone/>
            </a:pPr>
            <a:r>
              <a:rPr>
                <a:solidFill>
                  <a:srgbClr val="4758AB"/>
                </a:solidFill>
                <a:latin typeface="Courier"/>
              </a:rPr>
              <a:t>ggplot</a:t>
            </a:r>
            <a:r>
              <a:rPr>
                <a:solidFill>
                  <a:srgbClr val="003B4F"/>
                </a:solidFill>
                <a:latin typeface="Courier"/>
              </a:rPr>
              <a:t>(drugs, </a:t>
            </a:r>
            <a:r>
              <a:rPr>
                <a:solidFill>
                  <a:srgbClr val="4758AB"/>
                </a:solidFill>
                <a:latin typeface="Courier"/>
              </a:rPr>
              <a:t>aes</a:t>
            </a:r>
            <a:r>
              <a:rPr>
                <a:solidFill>
                  <a:srgbClr val="003B4F"/>
                </a:solidFill>
                <a:latin typeface="Courier"/>
              </a:rPr>
              <a:t>(drug, effect)) </a:t>
            </a:r>
            <a:r>
              <a:rPr>
                <a:solidFill>
                  <a:srgbClr val="5E5E5E"/>
                </a:solidFill>
                <a:latin typeface="Courier"/>
              </a:rPr>
              <a:t>+</a:t>
            </a:r>
            <a:r>
              <a:rPr>
                <a:solidFill>
                  <a:srgbClr val="003B4F"/>
                </a:solidFill>
                <a:latin typeface="Courier"/>
              </a:rPr>
              <a:t> </a:t>
            </a:r>
            <a:r>
              <a:rPr>
                <a:solidFill>
                  <a:srgbClr val="4758AB"/>
                </a:solidFill>
                <a:latin typeface="Courier"/>
              </a:rPr>
              <a:t>geom_bar</a:t>
            </a:r>
            <a:r>
              <a:rPr>
                <a:solidFill>
                  <a:srgbClr val="003B4F"/>
                </a:solidFill>
                <a:latin typeface="Courier"/>
              </a:rPr>
              <a:t>(</a:t>
            </a:r>
            <a:r>
              <a:rPr>
                <a:solidFill>
                  <a:srgbClr val="657422"/>
                </a:solidFill>
                <a:latin typeface="Courier"/>
              </a:rPr>
              <a:t>stat =</a:t>
            </a:r>
            <a:r>
              <a:rPr>
                <a:solidFill>
                  <a:srgbClr val="003B4F"/>
                </a:solidFill>
                <a:latin typeface="Courier"/>
              </a:rPr>
              <a:t> </a:t>
            </a:r>
            <a:r>
              <a:rPr>
                <a:solidFill>
                  <a:srgbClr val="20794D"/>
                </a:solidFill>
                <a:latin typeface="Courier"/>
              </a:rPr>
              <a:t>"identity"</a:t>
            </a:r>
            <a:r>
              <a:rPr>
                <a:solidFill>
                  <a:srgbClr val="003B4F"/>
                </a:solidFill>
                <a:latin typeface="Courier"/>
              </a:rPr>
              <a:t>)</a:t>
            </a:r>
            <a:br/>
            <a:r>
              <a:rPr>
                <a:solidFill>
                  <a:srgbClr val="4758AB"/>
                </a:solidFill>
                <a:latin typeface="Courier"/>
              </a:rPr>
              <a:t>ggplot</a:t>
            </a:r>
            <a:r>
              <a:rPr>
                <a:solidFill>
                  <a:srgbClr val="003B4F"/>
                </a:solidFill>
                <a:latin typeface="Courier"/>
              </a:rPr>
              <a:t>(drugs, </a:t>
            </a:r>
            <a:r>
              <a:rPr>
                <a:solidFill>
                  <a:srgbClr val="4758AB"/>
                </a:solidFill>
                <a:latin typeface="Courier"/>
              </a:rPr>
              <a:t>aes</a:t>
            </a:r>
            <a:r>
              <a:rPr>
                <a:solidFill>
                  <a:srgbClr val="003B4F"/>
                </a:solidFill>
                <a:latin typeface="Courier"/>
              </a:rPr>
              <a:t>(drug, effect)) </a:t>
            </a:r>
            <a:r>
              <a:rPr>
                <a:solidFill>
                  <a:srgbClr val="5E5E5E"/>
                </a:solidFill>
                <a:latin typeface="Courier"/>
              </a:rPr>
              <a:t>+</a:t>
            </a:r>
            <a:r>
              <a:rPr>
                <a:solidFill>
                  <a:srgbClr val="003B4F"/>
                </a:solidFill>
                <a:latin typeface="Courier"/>
              </a:rPr>
              <a:t> </a:t>
            </a:r>
            <a:r>
              <a:rPr>
                <a:solidFill>
                  <a:srgbClr val="4758AB"/>
                </a:solidFill>
                <a:latin typeface="Courier"/>
              </a:rPr>
              <a:t>geom_point</a:t>
            </a:r>
            <a:r>
              <a:rPr>
                <a:solidFill>
                  <a:srgbClr val="003B4F"/>
                </a:solidFill>
                <a:latin typeface="Courier"/>
              </a:rPr>
              <a:t>()</a:t>
            </a:r>
          </a:p>
        </p:txBody>
      </p:sp>
      <p:pic>
        <p:nvPicPr>
          <p:cNvPr descr="ch2_files/figure-pptx/unnamed-chunk-23-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Time series with line and path plots</a:t>
            </a:r>
          </a:p>
        </p:txBody>
      </p:sp>
      <p:sp>
        <p:nvSpPr>
          <p:cNvPr id="3" name="Content Placeholder 2"/>
          <p:cNvSpPr>
            <a:spLocks noGrp="1"/>
          </p:cNvSpPr>
          <p:nvPr>
            <p:ph idx="1"/>
          </p:nvPr>
        </p:nvSpPr>
        <p:spPr/>
        <p:txBody>
          <a:bodyPr/>
          <a:lstStyle/>
          <a:p>
            <a:pPr lvl="0" indent="0" marL="0">
              <a:buNone/>
            </a:pPr>
            <a:r>
              <a:rPr/>
              <a:t>Line and path plots are typically used for time series data. Line plots join the points from left to right, while path plots join them in the order that they appear in the dataset (in other words, a line plot is a path plot of the data sorted by x value). Line plots usually have time on the x-axis, showing how a single variable has changed over time. Path plots show how two variables have simultaneously changed over time, with time encoded in the way that observations are connected.</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Time series</a:t>
            </a:r>
          </a:p>
          <a:p>
            <a:pPr lvl="0" indent="0" marL="0">
              <a:buNone/>
            </a:pPr>
            <a:r>
              <a:rPr/>
              <a:t>Because the year variable in the </a:t>
            </a:r>
            <a:r>
              <a:rPr>
                <a:latin typeface="Courier"/>
              </a:rPr>
              <a:t>mpg</a:t>
            </a:r>
            <a:r>
              <a:rPr/>
              <a:t> dataset only has two values, we’ll show some time series plots using the </a:t>
            </a:r>
            <a:r>
              <a:rPr>
                <a:latin typeface="Courier"/>
              </a:rPr>
              <a:t>economics</a:t>
            </a:r>
            <a:r>
              <a:rPr/>
              <a:t> dataset, which contains economic data on the US measured over the last 40 years. The figure below shows two plots of unemployment over time, both produced using </a:t>
            </a:r>
            <a:r>
              <a:rPr>
                <a:latin typeface="Courier"/>
              </a:rPr>
              <a:t>geom_line()</a:t>
            </a:r>
            <a:r>
              <a:rPr/>
              <a:t>. The first shows the unemployment rate while the second shows the median number of weeks unemployed. We can already see some differences in these two variables, particularly in the last peak, where the unemployment percentage is lower than it was in the preceding peaks, but the length of unemployment is high.</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solidFill>
                  <a:srgbClr val="4758AB"/>
                </a:solidFill>
                <a:latin typeface="Courier"/>
              </a:rPr>
              <a:t>ggplot</a:t>
            </a:r>
            <a:r>
              <a:rPr>
                <a:solidFill>
                  <a:srgbClr val="003B4F"/>
                </a:solidFill>
                <a:latin typeface="Courier"/>
              </a:rPr>
              <a:t>(economics, </a:t>
            </a:r>
            <a:r>
              <a:rPr>
                <a:solidFill>
                  <a:srgbClr val="4758AB"/>
                </a:solidFill>
                <a:latin typeface="Courier"/>
              </a:rPr>
              <a:t>aes</a:t>
            </a:r>
            <a:r>
              <a:rPr>
                <a:solidFill>
                  <a:srgbClr val="003B4F"/>
                </a:solidFill>
                <a:latin typeface="Courier"/>
              </a:rPr>
              <a:t>(date, unemploy </a:t>
            </a:r>
            <a:r>
              <a:rPr>
                <a:solidFill>
                  <a:srgbClr val="5E5E5E"/>
                </a:solidFill>
                <a:latin typeface="Courier"/>
              </a:rPr>
              <a:t>/</a:t>
            </a:r>
            <a:r>
              <a:rPr>
                <a:solidFill>
                  <a:srgbClr val="003B4F"/>
                </a:solidFill>
                <a:latin typeface="Courier"/>
              </a:rPr>
              <a:t> pop)) </a:t>
            </a:r>
            <a:r>
              <a:rPr>
                <a:solidFill>
                  <a:srgbClr val="5E5E5E"/>
                </a:solidFill>
                <a:latin typeface="Courier"/>
              </a:rPr>
              <a:t>+</a:t>
            </a:r>
            <a:br/>
            <a:r>
              <a:rPr>
                <a:solidFill>
                  <a:srgbClr val="003B4F"/>
                </a:solidFill>
                <a:latin typeface="Courier"/>
              </a:rPr>
              <a:t>  </a:t>
            </a:r>
            <a:r>
              <a:rPr>
                <a:solidFill>
                  <a:srgbClr val="4758AB"/>
                </a:solidFill>
                <a:latin typeface="Courier"/>
              </a:rPr>
              <a:t>geom_line</a:t>
            </a:r>
            <a:r>
              <a:rPr>
                <a:solidFill>
                  <a:srgbClr val="003B4F"/>
                </a:solidFill>
                <a:latin typeface="Courier"/>
              </a:rPr>
              <a:t>()</a:t>
            </a:r>
            <a:br/>
            <a:r>
              <a:rPr>
                <a:solidFill>
                  <a:srgbClr val="4758AB"/>
                </a:solidFill>
                <a:latin typeface="Courier"/>
              </a:rPr>
              <a:t>ggplot</a:t>
            </a:r>
            <a:r>
              <a:rPr>
                <a:solidFill>
                  <a:srgbClr val="003B4F"/>
                </a:solidFill>
                <a:latin typeface="Courier"/>
              </a:rPr>
              <a:t>(economics, </a:t>
            </a:r>
            <a:r>
              <a:rPr>
                <a:solidFill>
                  <a:srgbClr val="4758AB"/>
                </a:solidFill>
                <a:latin typeface="Courier"/>
              </a:rPr>
              <a:t>aes</a:t>
            </a:r>
            <a:r>
              <a:rPr>
                <a:solidFill>
                  <a:srgbClr val="003B4F"/>
                </a:solidFill>
                <a:latin typeface="Courier"/>
              </a:rPr>
              <a:t>(date, uempmed)) </a:t>
            </a:r>
            <a:r>
              <a:rPr>
                <a:solidFill>
                  <a:srgbClr val="5E5E5E"/>
                </a:solidFill>
                <a:latin typeface="Courier"/>
              </a:rPr>
              <a:t>+</a:t>
            </a:r>
            <a:br/>
            <a:r>
              <a:rPr>
                <a:solidFill>
                  <a:srgbClr val="003B4F"/>
                </a:solidFill>
                <a:latin typeface="Courier"/>
              </a:rPr>
              <a:t>  </a:t>
            </a:r>
            <a:r>
              <a:rPr>
                <a:solidFill>
                  <a:srgbClr val="4758AB"/>
                </a:solidFill>
                <a:latin typeface="Courier"/>
              </a:rPr>
              <a:t>geom_line</a:t>
            </a:r>
            <a:r>
              <a:rPr>
                <a:solidFill>
                  <a:srgbClr val="003B4F"/>
                </a:solidFill>
                <a:latin typeface="Courier"/>
              </a:rPr>
              <a:t>()</a:t>
            </a:r>
          </a:p>
        </p:txBody>
      </p:sp>
      <p:pic>
        <p:nvPicPr>
          <p:cNvPr descr="ch2_files/figure-pptx/unnamed-chunk-25-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Path plots</a:t>
            </a:r>
          </a:p>
          <a:p>
            <a:pPr lvl="0" indent="0" marL="0">
              <a:buNone/>
            </a:pPr>
            <a:r>
              <a:rPr/>
              <a:t>To examine this relationship in greater detail, we would like to draw both time series on the same plot. We could draw a scatterplot of unemployment rate vs. length of unemployment, but then we could no longer see the evolution over time. The solution is to join points adjacent in time with line segments, forming a </a:t>
            </a:r>
            <a:r>
              <a:rPr i="1"/>
              <a:t>path</a:t>
            </a:r>
            <a:r>
              <a:rPr/>
              <a:t> plot.</a:t>
            </a:r>
          </a:p>
          <a:p>
            <a:pPr lvl="0" indent="0" marL="0">
              <a:buNone/>
            </a:pPr>
            <a:r>
              <a:rPr/>
              <a:t>Below we plot unemployment rate vs. length of unemployment and join the individual observations with a path. Because of the many line crossings, the direction in which time flows isn’t easy to see in the first plot. In the second plot, we colour the points to make it easier to see the direction of time.</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solidFill>
                  <a:srgbClr val="4758AB"/>
                </a:solidFill>
                <a:latin typeface="Courier"/>
              </a:rPr>
              <a:t>ggplot</a:t>
            </a:r>
            <a:r>
              <a:rPr>
                <a:solidFill>
                  <a:srgbClr val="003B4F"/>
                </a:solidFill>
                <a:latin typeface="Courier"/>
              </a:rPr>
              <a:t>(economics, </a:t>
            </a:r>
            <a:r>
              <a:rPr>
                <a:solidFill>
                  <a:srgbClr val="4758AB"/>
                </a:solidFill>
                <a:latin typeface="Courier"/>
              </a:rPr>
              <a:t>aes</a:t>
            </a:r>
            <a:r>
              <a:rPr>
                <a:solidFill>
                  <a:srgbClr val="003B4F"/>
                </a:solidFill>
                <a:latin typeface="Courier"/>
              </a:rPr>
              <a:t>(unemploy </a:t>
            </a:r>
            <a:r>
              <a:rPr>
                <a:solidFill>
                  <a:srgbClr val="5E5E5E"/>
                </a:solidFill>
                <a:latin typeface="Courier"/>
              </a:rPr>
              <a:t>/</a:t>
            </a:r>
            <a:r>
              <a:rPr>
                <a:solidFill>
                  <a:srgbClr val="003B4F"/>
                </a:solidFill>
                <a:latin typeface="Courier"/>
              </a:rPr>
              <a:t> pop, uempmed))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geom_path</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geom_point</a:t>
            </a:r>
            <a:r>
              <a:rPr>
                <a:solidFill>
                  <a:srgbClr val="003B4F"/>
                </a:solidFill>
                <a:latin typeface="Courier"/>
              </a:rPr>
              <a:t>()</a:t>
            </a:r>
            <a:br/>
            <a:br/>
            <a:r>
              <a:rPr>
                <a:solidFill>
                  <a:srgbClr val="003B4F"/>
                </a:solidFill>
                <a:latin typeface="Courier"/>
              </a:rPr>
              <a:t>year &lt;- </a:t>
            </a:r>
            <a:r>
              <a:rPr b="1">
                <a:solidFill>
                  <a:srgbClr val="003B4F"/>
                </a:solidFill>
                <a:latin typeface="Courier"/>
              </a:rPr>
              <a:t>function</a:t>
            </a:r>
            <a:r>
              <a:rPr>
                <a:solidFill>
                  <a:srgbClr val="003B4F"/>
                </a:solidFill>
                <a:latin typeface="Courier"/>
              </a:rPr>
              <a:t>(x) </a:t>
            </a:r>
            <a:r>
              <a:rPr>
                <a:solidFill>
                  <a:srgbClr val="4758AB"/>
                </a:solidFill>
                <a:latin typeface="Courier"/>
              </a:rPr>
              <a:t>as.POSIXlt</a:t>
            </a:r>
            <a:r>
              <a:rPr>
                <a:solidFill>
                  <a:srgbClr val="003B4F"/>
                </a:solidFill>
                <a:latin typeface="Courier"/>
              </a:rPr>
              <a:t>(x)</a:t>
            </a:r>
            <a:r>
              <a:rPr>
                <a:solidFill>
                  <a:srgbClr val="5E5E5E"/>
                </a:solidFill>
                <a:latin typeface="Courier"/>
              </a:rPr>
              <a:t>$</a:t>
            </a:r>
            <a:r>
              <a:rPr>
                <a:solidFill>
                  <a:srgbClr val="003B4F"/>
                </a:solidFill>
                <a:latin typeface="Courier"/>
              </a:rPr>
              <a:t>year </a:t>
            </a:r>
            <a:r>
              <a:rPr>
                <a:solidFill>
                  <a:srgbClr val="5E5E5E"/>
                </a:solidFill>
                <a:latin typeface="Courier"/>
              </a:rPr>
              <a:t>+</a:t>
            </a:r>
            <a:r>
              <a:rPr>
                <a:solidFill>
                  <a:srgbClr val="003B4F"/>
                </a:solidFill>
                <a:latin typeface="Courier"/>
              </a:rPr>
              <a:t> </a:t>
            </a:r>
            <a:r>
              <a:rPr>
                <a:solidFill>
                  <a:srgbClr val="AD0000"/>
                </a:solidFill>
                <a:latin typeface="Courier"/>
              </a:rPr>
              <a:t>1900</a:t>
            </a:r>
            <a:br/>
            <a:r>
              <a:rPr>
                <a:solidFill>
                  <a:srgbClr val="4758AB"/>
                </a:solidFill>
                <a:latin typeface="Courier"/>
              </a:rPr>
              <a:t>ggplot</a:t>
            </a:r>
            <a:r>
              <a:rPr>
                <a:solidFill>
                  <a:srgbClr val="003B4F"/>
                </a:solidFill>
                <a:latin typeface="Courier"/>
              </a:rPr>
              <a:t>(economics, </a:t>
            </a:r>
            <a:r>
              <a:rPr>
                <a:solidFill>
                  <a:srgbClr val="4758AB"/>
                </a:solidFill>
                <a:latin typeface="Courier"/>
              </a:rPr>
              <a:t>aes</a:t>
            </a:r>
            <a:r>
              <a:rPr>
                <a:solidFill>
                  <a:srgbClr val="003B4F"/>
                </a:solidFill>
                <a:latin typeface="Courier"/>
              </a:rPr>
              <a:t>(unemploy </a:t>
            </a:r>
            <a:r>
              <a:rPr>
                <a:solidFill>
                  <a:srgbClr val="5E5E5E"/>
                </a:solidFill>
                <a:latin typeface="Courier"/>
              </a:rPr>
              <a:t>/</a:t>
            </a:r>
            <a:r>
              <a:rPr>
                <a:solidFill>
                  <a:srgbClr val="003B4F"/>
                </a:solidFill>
                <a:latin typeface="Courier"/>
              </a:rPr>
              <a:t> pop, uempmed))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geom_path</a:t>
            </a:r>
            <a:r>
              <a:rPr>
                <a:solidFill>
                  <a:srgbClr val="003B4F"/>
                </a:solidFill>
                <a:latin typeface="Courier"/>
              </a:rPr>
              <a:t>(</a:t>
            </a:r>
            <a:r>
              <a:rPr>
                <a:solidFill>
                  <a:srgbClr val="657422"/>
                </a:solidFill>
                <a:latin typeface="Courier"/>
              </a:rPr>
              <a:t>colour =</a:t>
            </a:r>
            <a:r>
              <a:rPr>
                <a:solidFill>
                  <a:srgbClr val="003B4F"/>
                </a:solidFill>
                <a:latin typeface="Courier"/>
              </a:rPr>
              <a:t> </a:t>
            </a:r>
            <a:r>
              <a:rPr>
                <a:solidFill>
                  <a:srgbClr val="20794D"/>
                </a:solidFill>
                <a:latin typeface="Courier"/>
              </a:rPr>
              <a:t>"grey50"</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geom_point</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colour =</a:t>
            </a:r>
            <a:r>
              <a:rPr>
                <a:solidFill>
                  <a:srgbClr val="003B4F"/>
                </a:solidFill>
                <a:latin typeface="Courier"/>
              </a:rPr>
              <a:t> </a:t>
            </a:r>
            <a:r>
              <a:rPr>
                <a:solidFill>
                  <a:srgbClr val="4758AB"/>
                </a:solidFill>
                <a:latin typeface="Courier"/>
              </a:rPr>
              <a:t>year</a:t>
            </a:r>
            <a:r>
              <a:rPr>
                <a:solidFill>
                  <a:srgbClr val="003B4F"/>
                </a:solidFill>
                <a:latin typeface="Courier"/>
              </a:rPr>
              <a:t>(date)))</a:t>
            </a:r>
          </a:p>
        </p:txBody>
      </p:sp>
      <p:pic>
        <p:nvPicPr>
          <p:cNvPr descr="ch2_files/figure-pptx/unnamed-chunk-27-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We can see that unemployment rate and length of unemployment are highly correlated, but in recent years the length of unemployment has been increasing relative to the unemployment rate.</a:t>
            </a:r>
          </a:p>
          <a:p>
            <a:pPr lvl="0" indent="0" marL="0">
              <a:buNone/>
            </a:pPr>
            <a:r>
              <a:rPr/>
              <a:t>With longitudinal data, you often want to display multiple time series on each plot, each series representing one individual. To do this you need to map the group aesthetic to a variable encoding the group membership of each observation. This is explained in more depth in Chapter 4.</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Exercises</a:t>
            </a:r>
          </a:p>
        </p:txBody>
      </p:sp>
      <p:sp>
        <p:nvSpPr>
          <p:cNvPr id="3" name="Content Placeholder 2"/>
          <p:cNvSpPr>
            <a:spLocks noGrp="1"/>
          </p:cNvSpPr>
          <p:nvPr>
            <p:ph idx="1"/>
          </p:nvPr>
        </p:nvSpPr>
        <p:spPr/>
        <p:txBody>
          <a:bodyPr/>
          <a:lstStyle/>
          <a:p>
            <a:pPr lvl="0" indent="-342900" marL="342900">
              <a:buAutoNum type="arabicPeriod"/>
            </a:pPr>
            <a:r>
              <a:rPr/>
              <a:t>What’s the problem with the plot created by </a:t>
            </a:r>
            <a:r>
              <a:rPr>
                <a:latin typeface="Courier"/>
              </a:rPr>
              <a:t>ggplot(mpg, aes(cty, hwy)) + geom_point()</a:t>
            </a:r>
            <a:r>
              <a:rPr/>
              <a:t>? Which of the geoms described above is most effective at remedying the problem?</a:t>
            </a:r>
          </a:p>
          <a:p>
            <a:pPr lvl="0" indent="-342900" marL="342900">
              <a:buAutoNum type="arabicPeriod"/>
            </a:pPr>
            <a:r>
              <a:rPr/>
              <a:t>One challenge with </a:t>
            </a:r>
            <a:r>
              <a:rPr>
                <a:latin typeface="Courier"/>
              </a:rPr>
              <a:t>ggplot(mpg, aes(class, hwy)) + geom_boxplot()</a:t>
            </a:r>
            <a:r>
              <a:rPr/>
              <a:t> is that the ordering of </a:t>
            </a:r>
            <a:r>
              <a:rPr>
                <a:latin typeface="Courier"/>
              </a:rPr>
              <a:t>class</a:t>
            </a:r>
            <a:r>
              <a:rPr/>
              <a:t> is alphabetical, which is not terribly useful. How could you change the factor levels to be more informative?</a:t>
            </a:r>
          </a:p>
          <a:p>
            <a:pPr lvl="0"/>
            <a:r>
              <a:rPr/>
              <a:t>Rather than reordering the factor by hand, you can do it automatically based on the data: </a:t>
            </a:r>
            <a:r>
              <a:rPr>
                <a:latin typeface="Courier"/>
              </a:rPr>
              <a:t>ggplot(mpg, aes(reorder(class, hwy), hwy)) + geom_boxplot()</a:t>
            </a:r>
            <a:r>
              <a:rPr/>
              <a:t>. What does </a:t>
            </a:r>
            <a:r>
              <a:rPr>
                <a:latin typeface="Courier"/>
              </a:rPr>
              <a:t>reorder()</a:t>
            </a:r>
            <a:r>
              <a:rPr/>
              <a:t> do? Read the documentation.</a:t>
            </a:r>
          </a:p>
          <a:p>
            <a:pPr lvl="0" indent="-342900" marL="342900">
              <a:buAutoNum startAt="3" type="arabicPeriod"/>
            </a:pPr>
            <a:r>
              <a:rPr/>
              <a:t>Explore the distribution of the carat variable in the </a:t>
            </a:r>
            <a:r>
              <a:rPr>
                <a:latin typeface="Courier"/>
              </a:rPr>
              <a:t>diamonds</a:t>
            </a:r>
            <a:r>
              <a:rPr/>
              <a:t> dataset. What binwidth reveals the most interesting patterns?</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342900" marL="342900">
              <a:buAutoNum startAt="4" type="arabicPeriod"/>
            </a:pPr>
            <a:r>
              <a:rPr/>
              <a:t>Explore the distribution of the price variable in the </a:t>
            </a:r>
            <a:r>
              <a:rPr>
                <a:latin typeface="Courier"/>
              </a:rPr>
              <a:t>diamonds</a:t>
            </a:r>
            <a:r>
              <a:rPr/>
              <a:t> data. How does the distribution vary by cut?</a:t>
            </a:r>
          </a:p>
          <a:p>
            <a:pPr lvl="0" indent="-342900" marL="342900">
              <a:buAutoNum startAt="4" type="arabicPeriod"/>
            </a:pPr>
            <a:r>
              <a:rPr/>
              <a:t>You now know (at least) three ways to compare the distributions of subgroups: </a:t>
            </a:r>
            <a:r>
              <a:rPr>
                <a:latin typeface="Courier"/>
              </a:rPr>
              <a:t>geom_violin()</a:t>
            </a:r>
            <a:r>
              <a:rPr/>
              <a:t>, </a:t>
            </a:r>
            <a:r>
              <a:rPr>
                <a:latin typeface="Courier"/>
              </a:rPr>
              <a:t>geom_freqpoly()</a:t>
            </a:r>
            <a:r>
              <a:rPr/>
              <a:t> and the colour aesthetic, or </a:t>
            </a:r>
            <a:r>
              <a:rPr>
                <a:latin typeface="Courier"/>
              </a:rPr>
              <a:t>geom_histogram()</a:t>
            </a:r>
            <a:r>
              <a:rPr/>
              <a:t> and faceting. What are the strengths and weaknesses of each approach? What other approaches could you try?</a:t>
            </a:r>
          </a:p>
          <a:p>
            <a:pPr lvl="0" indent="-342900" marL="342900">
              <a:buAutoNum startAt="4" type="arabicPeriod"/>
            </a:pPr>
            <a:r>
              <a:rPr/>
              <a:t>Read the documentation for </a:t>
            </a:r>
            <a:r>
              <a:rPr>
                <a:latin typeface="Courier"/>
              </a:rPr>
              <a:t>geom_bar()</a:t>
            </a:r>
            <a:r>
              <a:rPr/>
              <a:t>. What does the </a:t>
            </a:r>
            <a:r>
              <a:rPr>
                <a:latin typeface="Courier"/>
              </a:rPr>
              <a:t>weight</a:t>
            </a:r>
            <a:r>
              <a:rPr/>
              <a:t> aesthetic do?</a:t>
            </a:r>
          </a:p>
          <a:p>
            <a:pPr lvl="0" indent="-342900" marL="342900">
              <a:buAutoNum startAt="4" type="arabicPeriod"/>
            </a:pPr>
            <a:r>
              <a:rPr/>
              <a:t>Using the techniques already discussed in this chapter, come up with three ways to visualise a 2d categorical distribution. Try them out by visualising the distribution of </a:t>
            </a:r>
            <a:r>
              <a:rPr>
                <a:latin typeface="Courier"/>
              </a:rPr>
              <a:t>model</a:t>
            </a:r>
            <a:r>
              <a:rPr/>
              <a:t> and </a:t>
            </a:r>
            <a:r>
              <a:rPr>
                <a:latin typeface="Courier"/>
              </a:rPr>
              <a:t>manufacturer</a:t>
            </a:r>
            <a:r>
              <a:rPr/>
              <a:t>, </a:t>
            </a:r>
            <a:r>
              <a:rPr>
                <a:latin typeface="Courier"/>
              </a:rPr>
              <a:t>trans</a:t>
            </a:r>
            <a:r>
              <a:rPr/>
              <a:t> and </a:t>
            </a:r>
            <a:r>
              <a:rPr>
                <a:latin typeface="Courier"/>
              </a:rPr>
              <a:t>class</a:t>
            </a:r>
            <a:r>
              <a:rPr/>
              <a:t>, and </a:t>
            </a:r>
            <a:r>
              <a:rPr>
                <a:latin typeface="Courier"/>
              </a:rPr>
              <a:t>cyl</a:t>
            </a:r>
            <a:r>
              <a:rPr/>
              <a:t> and </a:t>
            </a:r>
            <a:r>
              <a:rPr>
                <a:latin typeface="Courier"/>
              </a:rPr>
              <a:t>trans</a:t>
            </a:r>
            <a:r>
              <a:rPr/>
              <a:t>.</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Modifying the axes</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Modifying the axes</a:t>
            </a:r>
          </a:p>
        </p:txBody>
      </p:sp>
      <p:sp>
        <p:nvSpPr>
          <p:cNvPr id="3" name="Content Placeholder 2"/>
          <p:cNvSpPr>
            <a:spLocks noGrp="1"/>
          </p:cNvSpPr>
          <p:nvPr>
            <p:ph idx="1"/>
          </p:nvPr>
        </p:nvSpPr>
        <p:spPr/>
        <p:txBody>
          <a:bodyPr/>
          <a:lstStyle/>
          <a:p>
            <a:pPr lvl="0" indent="0" marL="0">
              <a:buNone/>
            </a:pPr>
            <a:r>
              <a:rPr/>
              <a:t>You’ll learn the full range of options available in later chapters, but two families of useful helpers let you make the most common modifications. </a:t>
            </a:r>
            <a:r>
              <a:rPr>
                <a:latin typeface="Courier"/>
              </a:rPr>
              <a:t>xlab()</a:t>
            </a:r>
            <a:r>
              <a:rPr/>
              <a:t> and </a:t>
            </a:r>
            <a:r>
              <a:rPr>
                <a:latin typeface="Courier"/>
              </a:rPr>
              <a:t>ylab()</a:t>
            </a:r>
            <a:r>
              <a:rPr/>
              <a:t> modify the x- and y-axis labels:</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solidFill>
                  <a:srgbClr val="4758AB"/>
                </a:solidFill>
                <a:latin typeface="Courier"/>
              </a:rPr>
              <a:t>ggplot</a:t>
            </a:r>
            <a:r>
              <a:rPr>
                <a:solidFill>
                  <a:srgbClr val="003B4F"/>
                </a:solidFill>
                <a:latin typeface="Courier"/>
              </a:rPr>
              <a:t>(mpg, </a:t>
            </a:r>
            <a:r>
              <a:rPr>
                <a:solidFill>
                  <a:srgbClr val="4758AB"/>
                </a:solidFill>
                <a:latin typeface="Courier"/>
              </a:rPr>
              <a:t>aes</a:t>
            </a:r>
            <a:r>
              <a:rPr>
                <a:solidFill>
                  <a:srgbClr val="003B4F"/>
                </a:solidFill>
                <a:latin typeface="Courier"/>
              </a:rPr>
              <a:t>(cty, hwy)) </a:t>
            </a:r>
            <a:r>
              <a:rPr>
                <a:solidFill>
                  <a:srgbClr val="5E5E5E"/>
                </a:solidFill>
                <a:latin typeface="Courier"/>
              </a:rPr>
              <a:t>+</a:t>
            </a:r>
            <a:br/>
            <a:r>
              <a:rPr>
                <a:solidFill>
                  <a:srgbClr val="003B4F"/>
                </a:solidFill>
                <a:latin typeface="Courier"/>
              </a:rPr>
              <a:t>  </a:t>
            </a:r>
            <a:r>
              <a:rPr>
                <a:solidFill>
                  <a:srgbClr val="4758AB"/>
                </a:solidFill>
                <a:latin typeface="Courier"/>
              </a:rPr>
              <a:t>geom_point</a:t>
            </a:r>
            <a:r>
              <a:rPr>
                <a:solidFill>
                  <a:srgbClr val="003B4F"/>
                </a:solidFill>
                <a:latin typeface="Courier"/>
              </a:rPr>
              <a:t>(</a:t>
            </a:r>
            <a:r>
              <a:rPr>
                <a:solidFill>
                  <a:srgbClr val="657422"/>
                </a:solidFill>
                <a:latin typeface="Courier"/>
              </a:rPr>
              <a:t>alpha =</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3</a:t>
            </a:r>
            <a:r>
              <a:rPr>
                <a:solidFill>
                  <a:srgbClr val="003B4F"/>
                </a:solidFill>
                <a:latin typeface="Courier"/>
              </a:rPr>
              <a:t>)</a:t>
            </a:r>
            <a:br/>
            <a:br/>
            <a:r>
              <a:rPr>
                <a:solidFill>
                  <a:srgbClr val="4758AB"/>
                </a:solidFill>
                <a:latin typeface="Courier"/>
              </a:rPr>
              <a:t>ggplot</a:t>
            </a:r>
            <a:r>
              <a:rPr>
                <a:solidFill>
                  <a:srgbClr val="003B4F"/>
                </a:solidFill>
                <a:latin typeface="Courier"/>
              </a:rPr>
              <a:t>(mpg, </a:t>
            </a:r>
            <a:r>
              <a:rPr>
                <a:solidFill>
                  <a:srgbClr val="4758AB"/>
                </a:solidFill>
                <a:latin typeface="Courier"/>
              </a:rPr>
              <a:t>aes</a:t>
            </a:r>
            <a:r>
              <a:rPr>
                <a:solidFill>
                  <a:srgbClr val="003B4F"/>
                </a:solidFill>
                <a:latin typeface="Courier"/>
              </a:rPr>
              <a:t>(cty, hwy)) </a:t>
            </a:r>
            <a:r>
              <a:rPr>
                <a:solidFill>
                  <a:srgbClr val="5E5E5E"/>
                </a:solidFill>
                <a:latin typeface="Courier"/>
              </a:rPr>
              <a:t>+</a:t>
            </a:r>
            <a:br/>
            <a:r>
              <a:rPr>
                <a:solidFill>
                  <a:srgbClr val="003B4F"/>
                </a:solidFill>
                <a:latin typeface="Courier"/>
              </a:rPr>
              <a:t>  </a:t>
            </a:r>
            <a:r>
              <a:rPr>
                <a:solidFill>
                  <a:srgbClr val="4758AB"/>
                </a:solidFill>
                <a:latin typeface="Courier"/>
              </a:rPr>
              <a:t>geom_point</a:t>
            </a:r>
            <a:r>
              <a:rPr>
                <a:solidFill>
                  <a:srgbClr val="003B4F"/>
                </a:solidFill>
                <a:latin typeface="Courier"/>
              </a:rPr>
              <a:t>(</a:t>
            </a:r>
            <a:r>
              <a:rPr>
                <a:solidFill>
                  <a:srgbClr val="657422"/>
                </a:solidFill>
                <a:latin typeface="Courier"/>
              </a:rPr>
              <a:t>alpha =</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xlab</a:t>
            </a:r>
            <a:r>
              <a:rPr>
                <a:solidFill>
                  <a:srgbClr val="003B4F"/>
                </a:solidFill>
                <a:latin typeface="Courier"/>
              </a:rPr>
              <a:t>(</a:t>
            </a:r>
            <a:r>
              <a:rPr>
                <a:solidFill>
                  <a:srgbClr val="20794D"/>
                </a:solidFill>
                <a:latin typeface="Courier"/>
              </a:rPr>
              <a:t>"city driving (mpg)"</a:t>
            </a:r>
            <a:r>
              <a:rPr>
                <a:solidFill>
                  <a:srgbClr val="003B4F"/>
                </a:solidFill>
                <a:latin typeface="Courier"/>
              </a:rPr>
              <a:t>)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ylab</a:t>
            </a:r>
            <a:r>
              <a:rPr>
                <a:solidFill>
                  <a:srgbClr val="003B4F"/>
                </a:solidFill>
                <a:latin typeface="Courier"/>
              </a:rPr>
              <a:t>(</a:t>
            </a:r>
            <a:r>
              <a:rPr>
                <a:solidFill>
                  <a:srgbClr val="20794D"/>
                </a:solidFill>
                <a:latin typeface="Courier"/>
              </a:rPr>
              <a:t>"highway driving (mpg)"</a:t>
            </a:r>
            <a:r>
              <a:rPr>
                <a:solidFill>
                  <a:srgbClr val="003B4F"/>
                </a:solidFill>
                <a:latin typeface="Courier"/>
              </a:rPr>
              <a:t>)</a:t>
            </a:r>
            <a:br/>
            <a:br/>
            <a:r>
              <a:rPr>
                <a:solidFill>
                  <a:srgbClr val="5E5E5E"/>
                </a:solidFill>
                <a:latin typeface="Courier"/>
              </a:rPr>
              <a:t># Remove the axis labels with NULL</a:t>
            </a:r>
            <a:br/>
            <a:r>
              <a:rPr>
                <a:solidFill>
                  <a:srgbClr val="4758AB"/>
                </a:solidFill>
                <a:latin typeface="Courier"/>
              </a:rPr>
              <a:t>ggplot</a:t>
            </a:r>
            <a:r>
              <a:rPr>
                <a:solidFill>
                  <a:srgbClr val="003B4F"/>
                </a:solidFill>
                <a:latin typeface="Courier"/>
              </a:rPr>
              <a:t>(mpg, </a:t>
            </a:r>
            <a:r>
              <a:rPr>
                <a:solidFill>
                  <a:srgbClr val="4758AB"/>
                </a:solidFill>
                <a:latin typeface="Courier"/>
              </a:rPr>
              <a:t>aes</a:t>
            </a:r>
            <a:r>
              <a:rPr>
                <a:solidFill>
                  <a:srgbClr val="003B4F"/>
                </a:solidFill>
                <a:latin typeface="Courier"/>
              </a:rPr>
              <a:t>(cty, hwy)) </a:t>
            </a:r>
            <a:r>
              <a:rPr>
                <a:solidFill>
                  <a:srgbClr val="5E5E5E"/>
                </a:solidFill>
                <a:latin typeface="Courier"/>
              </a:rPr>
              <a:t>+</a:t>
            </a:r>
            <a:br/>
            <a:r>
              <a:rPr>
                <a:solidFill>
                  <a:srgbClr val="003B4F"/>
                </a:solidFill>
                <a:latin typeface="Courier"/>
              </a:rPr>
              <a:t>  </a:t>
            </a:r>
            <a:r>
              <a:rPr>
                <a:solidFill>
                  <a:srgbClr val="4758AB"/>
                </a:solidFill>
                <a:latin typeface="Courier"/>
              </a:rPr>
              <a:t>geom_point</a:t>
            </a:r>
            <a:r>
              <a:rPr>
                <a:solidFill>
                  <a:srgbClr val="003B4F"/>
                </a:solidFill>
                <a:latin typeface="Courier"/>
              </a:rPr>
              <a:t>(</a:t>
            </a:r>
            <a:r>
              <a:rPr>
                <a:solidFill>
                  <a:srgbClr val="657422"/>
                </a:solidFill>
                <a:latin typeface="Courier"/>
              </a:rPr>
              <a:t>alpha =</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xlab</a:t>
            </a:r>
            <a:r>
              <a:rPr>
                <a:solidFill>
                  <a:srgbClr val="003B4F"/>
                </a:solidFill>
                <a:latin typeface="Courier"/>
              </a:rPr>
              <a:t>(</a:t>
            </a:r>
            <a:r>
              <a:rPr>
                <a:solidFill>
                  <a:srgbClr val="8F5902"/>
                </a:solidFill>
                <a:latin typeface="Courier"/>
              </a:rPr>
              <a:t>NULL</a:t>
            </a:r>
            <a:r>
              <a:rPr>
                <a:solidFill>
                  <a:srgbClr val="003B4F"/>
                </a:solidFill>
                <a:latin typeface="Courier"/>
              </a:rPr>
              <a:t>)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ylab</a:t>
            </a:r>
            <a:r>
              <a:rPr>
                <a:solidFill>
                  <a:srgbClr val="003B4F"/>
                </a:solidFill>
                <a:latin typeface="Courier"/>
              </a:rPr>
              <a:t>(</a:t>
            </a:r>
            <a:r>
              <a:rPr>
                <a:solidFill>
                  <a:srgbClr val="8F5902"/>
                </a:solidFill>
                <a:latin typeface="Courier"/>
              </a:rPr>
              <a:t>NULL</a:t>
            </a:r>
            <a:r>
              <a:rPr>
                <a:solidFill>
                  <a:srgbClr val="003B4F"/>
                </a:solidFill>
                <a:latin typeface="Courier"/>
              </a:rPr>
              <a:t>)</a:t>
            </a:r>
          </a:p>
        </p:txBody>
      </p:sp>
      <p:pic>
        <p:nvPicPr>
          <p:cNvPr descr="ch2_files/figure-pptx/unnamed-chunk-29-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latin typeface="Courier"/>
              </a:rPr>
              <a:t>xlim()</a:t>
            </a:r>
            <a:r>
              <a:rPr/>
              <a:t> and </a:t>
            </a:r>
            <a:r>
              <a:rPr>
                <a:latin typeface="Courier"/>
              </a:rPr>
              <a:t>ylim()</a:t>
            </a:r>
            <a:r>
              <a:rPr/>
              <a:t> modify the limits of axes:</a:t>
            </a:r>
          </a:p>
          <a:p>
            <a:pPr lvl="0" indent="0">
              <a:buNone/>
            </a:pPr>
            <a:r>
              <a:rPr>
                <a:solidFill>
                  <a:srgbClr val="4758AB"/>
                </a:solidFill>
                <a:latin typeface="Courier"/>
              </a:rPr>
              <a:t>ggplot</a:t>
            </a:r>
            <a:r>
              <a:rPr>
                <a:solidFill>
                  <a:srgbClr val="003B4F"/>
                </a:solidFill>
                <a:latin typeface="Courier"/>
              </a:rPr>
              <a:t>(mpg, </a:t>
            </a:r>
            <a:r>
              <a:rPr>
                <a:solidFill>
                  <a:srgbClr val="4758AB"/>
                </a:solidFill>
                <a:latin typeface="Courier"/>
              </a:rPr>
              <a:t>aes</a:t>
            </a:r>
            <a:r>
              <a:rPr>
                <a:solidFill>
                  <a:srgbClr val="003B4F"/>
                </a:solidFill>
                <a:latin typeface="Courier"/>
              </a:rPr>
              <a:t>(drv, hwy)) </a:t>
            </a:r>
            <a:r>
              <a:rPr>
                <a:solidFill>
                  <a:srgbClr val="5E5E5E"/>
                </a:solidFill>
                <a:latin typeface="Courier"/>
              </a:rPr>
              <a:t>+</a:t>
            </a:r>
            <a:br/>
            <a:r>
              <a:rPr>
                <a:solidFill>
                  <a:srgbClr val="003B4F"/>
                </a:solidFill>
                <a:latin typeface="Courier"/>
              </a:rPr>
              <a:t>  </a:t>
            </a:r>
            <a:r>
              <a:rPr>
                <a:solidFill>
                  <a:srgbClr val="4758AB"/>
                </a:solidFill>
                <a:latin typeface="Courier"/>
              </a:rPr>
              <a:t>geom_jitter</a:t>
            </a:r>
            <a:r>
              <a:rPr>
                <a:solidFill>
                  <a:srgbClr val="003B4F"/>
                </a:solidFill>
                <a:latin typeface="Courier"/>
              </a:rPr>
              <a:t>(</a:t>
            </a:r>
            <a:r>
              <a:rPr>
                <a:solidFill>
                  <a:srgbClr val="657422"/>
                </a:solidFill>
                <a:latin typeface="Courier"/>
              </a:rPr>
              <a:t>width =</a:t>
            </a:r>
            <a:r>
              <a:rPr>
                <a:solidFill>
                  <a:srgbClr val="003B4F"/>
                </a:solidFill>
                <a:latin typeface="Courier"/>
              </a:rPr>
              <a:t> </a:t>
            </a:r>
            <a:r>
              <a:rPr>
                <a:solidFill>
                  <a:srgbClr val="AD0000"/>
                </a:solidFill>
                <a:latin typeface="Courier"/>
              </a:rPr>
              <a:t>0.25</a:t>
            </a:r>
            <a:r>
              <a:rPr>
                <a:solidFill>
                  <a:srgbClr val="003B4F"/>
                </a:solidFill>
                <a:latin typeface="Courier"/>
              </a:rPr>
              <a:t>)</a:t>
            </a:r>
            <a:br/>
            <a:br/>
            <a:r>
              <a:rPr>
                <a:solidFill>
                  <a:srgbClr val="4758AB"/>
                </a:solidFill>
                <a:latin typeface="Courier"/>
              </a:rPr>
              <a:t>ggplot</a:t>
            </a:r>
            <a:r>
              <a:rPr>
                <a:solidFill>
                  <a:srgbClr val="003B4F"/>
                </a:solidFill>
                <a:latin typeface="Courier"/>
              </a:rPr>
              <a:t>(mpg, </a:t>
            </a:r>
            <a:r>
              <a:rPr>
                <a:solidFill>
                  <a:srgbClr val="4758AB"/>
                </a:solidFill>
                <a:latin typeface="Courier"/>
              </a:rPr>
              <a:t>aes</a:t>
            </a:r>
            <a:r>
              <a:rPr>
                <a:solidFill>
                  <a:srgbClr val="003B4F"/>
                </a:solidFill>
                <a:latin typeface="Courier"/>
              </a:rPr>
              <a:t>(drv, hwy)) </a:t>
            </a:r>
            <a:r>
              <a:rPr>
                <a:solidFill>
                  <a:srgbClr val="5E5E5E"/>
                </a:solidFill>
                <a:latin typeface="Courier"/>
              </a:rPr>
              <a:t>+</a:t>
            </a:r>
            <a:br/>
            <a:r>
              <a:rPr>
                <a:solidFill>
                  <a:srgbClr val="003B4F"/>
                </a:solidFill>
                <a:latin typeface="Courier"/>
              </a:rPr>
              <a:t>  </a:t>
            </a:r>
            <a:r>
              <a:rPr>
                <a:solidFill>
                  <a:srgbClr val="4758AB"/>
                </a:solidFill>
                <a:latin typeface="Courier"/>
              </a:rPr>
              <a:t>geom_jitter</a:t>
            </a:r>
            <a:r>
              <a:rPr>
                <a:solidFill>
                  <a:srgbClr val="003B4F"/>
                </a:solidFill>
                <a:latin typeface="Courier"/>
              </a:rPr>
              <a:t>(</a:t>
            </a:r>
            <a:r>
              <a:rPr>
                <a:solidFill>
                  <a:srgbClr val="657422"/>
                </a:solidFill>
                <a:latin typeface="Courier"/>
              </a:rPr>
              <a:t>width =</a:t>
            </a:r>
            <a:r>
              <a:rPr>
                <a:solidFill>
                  <a:srgbClr val="003B4F"/>
                </a:solidFill>
                <a:latin typeface="Courier"/>
              </a:rPr>
              <a:t> </a:t>
            </a:r>
            <a:r>
              <a:rPr>
                <a:solidFill>
                  <a:srgbClr val="AD0000"/>
                </a:solidFill>
                <a:latin typeface="Courier"/>
              </a:rPr>
              <a:t>0.25</a:t>
            </a:r>
            <a:r>
              <a:rPr>
                <a:solidFill>
                  <a:srgbClr val="003B4F"/>
                </a:solidFill>
                <a:latin typeface="Courier"/>
              </a:rPr>
              <a:t>)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xlim</a:t>
            </a:r>
            <a:r>
              <a:rPr>
                <a:solidFill>
                  <a:srgbClr val="003B4F"/>
                </a:solidFill>
                <a:latin typeface="Courier"/>
              </a:rPr>
              <a:t>(</a:t>
            </a:r>
            <a:r>
              <a:rPr>
                <a:solidFill>
                  <a:srgbClr val="20794D"/>
                </a:solidFill>
                <a:latin typeface="Courier"/>
              </a:rPr>
              <a:t>"f"</a:t>
            </a:r>
            <a:r>
              <a:rPr>
                <a:solidFill>
                  <a:srgbClr val="003B4F"/>
                </a:solidFill>
                <a:latin typeface="Courier"/>
              </a:rPr>
              <a:t>, </a:t>
            </a:r>
            <a:r>
              <a:rPr>
                <a:solidFill>
                  <a:srgbClr val="20794D"/>
                </a:solidFill>
                <a:latin typeface="Courier"/>
              </a:rPr>
              <a:t>"r"</a:t>
            </a:r>
            <a:r>
              <a:rPr>
                <a:solidFill>
                  <a:srgbClr val="003B4F"/>
                </a:solidFill>
                <a:latin typeface="Courier"/>
              </a:rPr>
              <a:t>)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ylim</a:t>
            </a:r>
            <a:r>
              <a:rPr>
                <a:solidFill>
                  <a:srgbClr val="003B4F"/>
                </a:solidFill>
                <a:latin typeface="Courier"/>
              </a:rPr>
              <a:t>(</a:t>
            </a:r>
            <a:r>
              <a:rPr>
                <a:solidFill>
                  <a:srgbClr val="AD0000"/>
                </a:solidFill>
                <a:latin typeface="Courier"/>
              </a:rPr>
              <a:t>20</a:t>
            </a:r>
            <a:r>
              <a:rPr>
                <a:solidFill>
                  <a:srgbClr val="003B4F"/>
                </a:solidFill>
                <a:latin typeface="Courier"/>
              </a:rPr>
              <a:t>, </a:t>
            </a:r>
            <a:r>
              <a:rPr>
                <a:solidFill>
                  <a:srgbClr val="AD0000"/>
                </a:solidFill>
                <a:latin typeface="Courier"/>
              </a:rPr>
              <a:t>30</a:t>
            </a:r>
            <a:r>
              <a:rPr>
                <a:solidFill>
                  <a:srgbClr val="003B4F"/>
                </a:solidFill>
                <a:latin typeface="Courier"/>
              </a:rPr>
              <a:t>)</a:t>
            </a:r>
            <a:br/>
            <a:r>
              <a:rPr>
                <a:solidFill>
                  <a:srgbClr val="5E5E5E"/>
                </a:solidFill>
                <a:latin typeface="Courier"/>
              </a:rPr>
              <a:t>#&gt; Warning: Removed 138 rows containing missing values or values outside the scale range</a:t>
            </a:r>
            <a:br/>
            <a:r>
              <a:rPr>
                <a:solidFill>
                  <a:srgbClr val="5E5E5E"/>
                </a:solidFill>
                <a:latin typeface="Courier"/>
              </a:rPr>
              <a:t>#&gt; (`geom_point()`).</a:t>
            </a:r>
            <a:br/>
            <a:r>
              <a:rPr>
                <a:solidFill>
                  <a:srgbClr val="003B4F"/>
                </a:solidFill>
                <a:latin typeface="Courier"/>
              </a:rPr>
              <a:t>  </a:t>
            </a:r>
            <a:br/>
            <a:r>
              <a:rPr>
                <a:solidFill>
                  <a:srgbClr val="5E5E5E"/>
                </a:solidFill>
                <a:latin typeface="Courier"/>
              </a:rPr>
              <a:t># For continuous scales, use NA to set only one limit</a:t>
            </a:r>
            <a:br/>
            <a:r>
              <a:rPr>
                <a:solidFill>
                  <a:srgbClr val="4758AB"/>
                </a:solidFill>
                <a:latin typeface="Courier"/>
              </a:rPr>
              <a:t>ggplot</a:t>
            </a:r>
            <a:r>
              <a:rPr>
                <a:solidFill>
                  <a:srgbClr val="003B4F"/>
                </a:solidFill>
                <a:latin typeface="Courier"/>
              </a:rPr>
              <a:t>(mpg, </a:t>
            </a:r>
            <a:r>
              <a:rPr>
                <a:solidFill>
                  <a:srgbClr val="4758AB"/>
                </a:solidFill>
                <a:latin typeface="Courier"/>
              </a:rPr>
              <a:t>aes</a:t>
            </a:r>
            <a:r>
              <a:rPr>
                <a:solidFill>
                  <a:srgbClr val="003B4F"/>
                </a:solidFill>
                <a:latin typeface="Courier"/>
              </a:rPr>
              <a:t>(drv, hwy)) </a:t>
            </a:r>
            <a:r>
              <a:rPr>
                <a:solidFill>
                  <a:srgbClr val="5E5E5E"/>
                </a:solidFill>
                <a:latin typeface="Courier"/>
              </a:rPr>
              <a:t>+</a:t>
            </a:r>
            <a:br/>
            <a:r>
              <a:rPr>
                <a:solidFill>
                  <a:srgbClr val="003B4F"/>
                </a:solidFill>
                <a:latin typeface="Courier"/>
              </a:rPr>
              <a:t>  </a:t>
            </a:r>
            <a:r>
              <a:rPr>
                <a:solidFill>
                  <a:srgbClr val="4758AB"/>
                </a:solidFill>
                <a:latin typeface="Courier"/>
              </a:rPr>
              <a:t>geom_jitter</a:t>
            </a:r>
            <a:r>
              <a:rPr>
                <a:solidFill>
                  <a:srgbClr val="003B4F"/>
                </a:solidFill>
                <a:latin typeface="Courier"/>
              </a:rPr>
              <a:t>(</a:t>
            </a:r>
            <a:r>
              <a:rPr>
                <a:solidFill>
                  <a:srgbClr val="657422"/>
                </a:solidFill>
                <a:latin typeface="Courier"/>
              </a:rPr>
              <a:t>width =</a:t>
            </a:r>
            <a:r>
              <a:rPr>
                <a:solidFill>
                  <a:srgbClr val="003B4F"/>
                </a:solidFill>
                <a:latin typeface="Courier"/>
              </a:rPr>
              <a:t> </a:t>
            </a:r>
            <a:r>
              <a:rPr>
                <a:solidFill>
                  <a:srgbClr val="AD0000"/>
                </a:solidFill>
                <a:latin typeface="Courier"/>
              </a:rPr>
              <a:t>0.25</a:t>
            </a:r>
            <a:r>
              <a:rPr>
                <a:solidFill>
                  <a:srgbClr val="003B4F"/>
                </a:solidFill>
                <a:latin typeface="Courier"/>
              </a:rPr>
              <a:t>, </a:t>
            </a:r>
            <a:r>
              <a:rPr>
                <a:solidFill>
                  <a:srgbClr val="657422"/>
                </a:solidFill>
                <a:latin typeface="Courier"/>
              </a:rPr>
              <a:t>na.rm =</a:t>
            </a:r>
            <a:r>
              <a:rPr>
                <a:solidFill>
                  <a:srgbClr val="003B4F"/>
                </a:solidFill>
                <a:latin typeface="Courier"/>
              </a:rPr>
              <a:t> </a:t>
            </a:r>
            <a:r>
              <a:rPr>
                <a:solidFill>
                  <a:srgbClr val="8F5902"/>
                </a:solidFill>
                <a:latin typeface="Courier"/>
              </a:rPr>
              <a:t>TRUE</a:t>
            </a:r>
            <a:r>
              <a:rPr>
                <a:solidFill>
                  <a:srgbClr val="003B4F"/>
                </a:solidFill>
                <a:latin typeface="Courier"/>
              </a:rPr>
              <a:t>)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ylim</a:t>
            </a:r>
            <a:r>
              <a:rPr>
                <a:solidFill>
                  <a:srgbClr val="003B4F"/>
                </a:solidFill>
                <a:latin typeface="Courier"/>
              </a:rPr>
              <a:t>(</a:t>
            </a:r>
            <a:r>
              <a:rPr>
                <a:solidFill>
                  <a:srgbClr val="8F5902"/>
                </a:solidFill>
                <a:latin typeface="Courier"/>
              </a:rPr>
              <a:t>NA</a:t>
            </a:r>
            <a:r>
              <a:rPr>
                <a:solidFill>
                  <a:srgbClr val="003B4F"/>
                </a:solidFill>
                <a:latin typeface="Courier"/>
              </a:rPr>
              <a:t>, </a:t>
            </a:r>
            <a:r>
              <a:rPr>
                <a:solidFill>
                  <a:srgbClr val="AD0000"/>
                </a:solidFill>
                <a:latin typeface="Courier"/>
              </a:rPr>
              <a:t>30</a:t>
            </a:r>
            <a:r>
              <a:rPr>
                <a:solidFill>
                  <a:srgbClr val="003B4F"/>
                </a:solidFill>
                <a:latin typeface="Courier"/>
              </a:rPr>
              <a:t>)</a:t>
            </a:r>
          </a:p>
        </p:txBody>
      </p:sp>
      <p:pic>
        <p:nvPicPr>
          <p:cNvPr descr="ch2_files/figure-pptx/unnamed-chunk-31-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Changing the axes limits sets values outside the range to </a:t>
            </a:r>
            <a:r>
              <a:rPr>
                <a:latin typeface="Courier"/>
              </a:rPr>
              <a:t>NA</a:t>
            </a:r>
            <a:r>
              <a:rPr/>
              <a:t>. You can suppress the associated warning with </a:t>
            </a:r>
            <a:r>
              <a:rPr>
                <a:latin typeface="Courier"/>
              </a:rPr>
              <a:t>na.rm = TRUE</a:t>
            </a:r>
            <a:r>
              <a:rPr/>
              <a:t>, but be careful. If your plot calculates summary statistics (e.g., sample mean), this conversion to </a:t>
            </a:r>
            <a:r>
              <a:rPr>
                <a:latin typeface="Courier"/>
              </a:rPr>
              <a:t>NA</a:t>
            </a:r>
            <a:r>
              <a:rPr/>
              <a:t> occurs before the summary statistics are computed, and may lead to undesirable results in some situations.</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Output</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Output</a:t>
            </a:r>
          </a:p>
        </p:txBody>
      </p:sp>
      <p:sp>
        <p:nvSpPr>
          <p:cNvPr id="3" name="Content Placeholder 2"/>
          <p:cNvSpPr>
            <a:spLocks noGrp="1"/>
          </p:cNvSpPr>
          <p:nvPr>
            <p:ph idx="1"/>
          </p:nvPr>
        </p:nvSpPr>
        <p:spPr/>
        <p:txBody>
          <a:bodyPr/>
          <a:lstStyle/>
          <a:p>
            <a:pPr lvl="0" indent="0" marL="0">
              <a:buNone/>
            </a:pPr>
            <a:r>
              <a:rPr/>
              <a:t>Most of the time you create a plot object and immediately plot it, but you can also save a plot to a variable and manipulate it:</a:t>
            </a:r>
          </a:p>
          <a:p>
            <a:pPr lvl="0" indent="0">
              <a:buNone/>
            </a:pPr>
            <a:r>
              <a:rPr>
                <a:solidFill>
                  <a:srgbClr val="003B4F"/>
                </a:solidFill>
                <a:latin typeface="Courier"/>
              </a:rPr>
              <a:t>p &lt;- </a:t>
            </a:r>
            <a:r>
              <a:rPr>
                <a:solidFill>
                  <a:srgbClr val="4758AB"/>
                </a:solidFill>
                <a:latin typeface="Courier"/>
              </a:rPr>
              <a:t>ggplot</a:t>
            </a:r>
            <a:r>
              <a:rPr>
                <a:solidFill>
                  <a:srgbClr val="003B4F"/>
                </a:solidFill>
                <a:latin typeface="Courier"/>
              </a:rPr>
              <a:t>(mpg, </a:t>
            </a:r>
            <a:r>
              <a:rPr>
                <a:solidFill>
                  <a:srgbClr val="4758AB"/>
                </a:solidFill>
                <a:latin typeface="Courier"/>
              </a:rPr>
              <a:t>aes</a:t>
            </a:r>
            <a:r>
              <a:rPr>
                <a:solidFill>
                  <a:srgbClr val="003B4F"/>
                </a:solidFill>
                <a:latin typeface="Courier"/>
              </a:rPr>
              <a:t>(displ, hwy, </a:t>
            </a:r>
            <a:r>
              <a:rPr>
                <a:solidFill>
                  <a:srgbClr val="657422"/>
                </a:solidFill>
                <a:latin typeface="Courier"/>
              </a:rPr>
              <a:t>colour =</a:t>
            </a:r>
            <a:r>
              <a:rPr>
                <a:solidFill>
                  <a:srgbClr val="003B4F"/>
                </a:solidFill>
                <a:latin typeface="Courier"/>
              </a:rPr>
              <a:t> </a:t>
            </a:r>
            <a:r>
              <a:rPr>
                <a:solidFill>
                  <a:srgbClr val="4758AB"/>
                </a:solidFill>
                <a:latin typeface="Courier"/>
              </a:rPr>
              <a:t>factor</a:t>
            </a:r>
            <a:r>
              <a:rPr>
                <a:solidFill>
                  <a:srgbClr val="003B4F"/>
                </a:solidFill>
                <a:latin typeface="Courier"/>
              </a:rPr>
              <a:t>(cyl))) </a:t>
            </a:r>
            <a:r>
              <a:rPr>
                <a:solidFill>
                  <a:srgbClr val="5E5E5E"/>
                </a:solidFill>
                <a:latin typeface="Courier"/>
              </a:rPr>
              <a:t>+</a:t>
            </a:r>
            <a:br/>
            <a:r>
              <a:rPr>
                <a:solidFill>
                  <a:srgbClr val="003B4F"/>
                </a:solidFill>
                <a:latin typeface="Courier"/>
              </a:rPr>
              <a:t>  </a:t>
            </a:r>
            <a:r>
              <a:rPr>
                <a:solidFill>
                  <a:srgbClr val="4758AB"/>
                </a:solidFill>
                <a:latin typeface="Courier"/>
              </a:rPr>
              <a:t>geom_point</a:t>
            </a:r>
            <a:r>
              <a:rPr>
                <a:solidFill>
                  <a:srgbClr val="003B4F"/>
                </a:solidFill>
                <a:latin typeface="Courier"/>
              </a:rPr>
              <a:t>()</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Once you have a plot object, there are a few things you can do with it:</a:t>
            </a:r>
          </a:p>
          <a:p>
            <a:pPr lvl="0" indent="0" marL="0">
              <a:buNone/>
            </a:pPr>
            <a:r>
              <a:rPr b="1"/>
              <a:t>Render on screen</a:t>
            </a:r>
          </a:p>
          <a:p>
            <a:pPr lvl="0"/>
            <a:r>
              <a:rPr/>
              <a:t>Render it on screen with </a:t>
            </a:r>
            <a:r>
              <a:rPr>
                <a:latin typeface="Courier"/>
              </a:rPr>
              <a:t>print()</a:t>
            </a:r>
            <a:r>
              <a:rPr/>
              <a:t>. This happens automatically when running interactively, but inside a loop or function, you’ll need to </a:t>
            </a:r>
            <a:r>
              <a:rPr>
                <a:latin typeface="Courier"/>
              </a:rPr>
              <a:t>print()</a:t>
            </a:r>
            <a:r>
              <a:rPr/>
              <a:t> it yourself.</a:t>
            </a:r>
          </a:p>
          <a:p>
            <a:pPr lvl="0" indent="0">
              <a:buNone/>
            </a:pPr>
            <a:r>
              <a:rPr>
                <a:solidFill>
                  <a:srgbClr val="4758AB"/>
                </a:solidFill>
                <a:latin typeface="Courier"/>
              </a:rPr>
              <a:t>print</a:t>
            </a:r>
            <a:r>
              <a:rPr>
                <a:solidFill>
                  <a:srgbClr val="003B4F"/>
                </a:solidFill>
                <a:latin typeface="Courier"/>
              </a:rPr>
              <a:t>(p)</a:t>
            </a:r>
          </a:p>
        </p:txBody>
      </p:sp>
      <p:pic>
        <p:nvPicPr>
          <p:cNvPr descr="ch2_files/figure-pptx/unnamed-chunk-33-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Save to disk</a:t>
            </a:r>
          </a:p>
          <a:p>
            <a:pPr lvl="0"/>
            <a:r>
              <a:rPr/>
              <a:t>Save it to disk with </a:t>
            </a:r>
            <a:r>
              <a:rPr>
                <a:latin typeface="Courier"/>
              </a:rPr>
              <a:t>ggsave()</a:t>
            </a:r>
            <a:r>
              <a:rPr/>
              <a:t>, described in Section 17.5.</a:t>
            </a:r>
          </a:p>
          <a:p>
            <a:pPr lvl="0" indent="0">
              <a:buNone/>
            </a:pPr>
            <a:r>
              <a:rPr>
                <a:solidFill>
                  <a:srgbClr val="5E5E5E"/>
                </a:solidFill>
                <a:latin typeface="Courier"/>
              </a:rPr>
              <a:t># Save png to disk</a:t>
            </a:r>
            <a:br/>
            <a:r>
              <a:rPr>
                <a:solidFill>
                  <a:srgbClr val="4758AB"/>
                </a:solidFill>
                <a:latin typeface="Courier"/>
              </a:rPr>
              <a:t>ggsave</a:t>
            </a:r>
            <a:r>
              <a:rPr>
                <a:solidFill>
                  <a:srgbClr val="003B4F"/>
                </a:solidFill>
                <a:latin typeface="Courier"/>
              </a:rPr>
              <a:t>(</a:t>
            </a:r>
            <a:r>
              <a:rPr>
                <a:solidFill>
                  <a:srgbClr val="20794D"/>
                </a:solidFill>
                <a:latin typeface="Courier"/>
              </a:rPr>
              <a:t>"plot.png"</a:t>
            </a:r>
            <a:r>
              <a:rPr>
                <a:solidFill>
                  <a:srgbClr val="003B4F"/>
                </a:solidFill>
                <a:latin typeface="Courier"/>
              </a:rPr>
              <a:t>, p, </a:t>
            </a:r>
            <a:r>
              <a:rPr>
                <a:solidFill>
                  <a:srgbClr val="657422"/>
                </a:solidFill>
                <a:latin typeface="Courier"/>
              </a:rPr>
              <a:t>width =</a:t>
            </a:r>
            <a:r>
              <a:rPr>
                <a:solidFill>
                  <a:srgbClr val="003B4F"/>
                </a:solidFill>
                <a:latin typeface="Courier"/>
              </a:rPr>
              <a:t> </a:t>
            </a:r>
            <a:r>
              <a:rPr>
                <a:solidFill>
                  <a:srgbClr val="AD0000"/>
                </a:solidFill>
                <a:latin typeface="Courier"/>
              </a:rPr>
              <a:t>5</a:t>
            </a:r>
            <a:r>
              <a:rPr>
                <a:solidFill>
                  <a:srgbClr val="003B4F"/>
                </a:solidFill>
                <a:latin typeface="Courier"/>
              </a:rPr>
              <a:t>, </a:t>
            </a:r>
            <a:r>
              <a:rPr>
                <a:solidFill>
                  <a:srgbClr val="657422"/>
                </a:solidFill>
                <a:latin typeface="Courier"/>
              </a:rPr>
              <a:t>height =</a:t>
            </a:r>
            <a:r>
              <a:rPr>
                <a:solidFill>
                  <a:srgbClr val="003B4F"/>
                </a:solidFill>
                <a:latin typeface="Courier"/>
              </a:rPr>
              <a:t> </a:t>
            </a:r>
            <a:r>
              <a:rPr>
                <a:solidFill>
                  <a:srgbClr val="AD0000"/>
                </a:solidFill>
                <a:latin typeface="Courier"/>
              </a:rPr>
              <a:t>5</a:t>
            </a:r>
            <a:r>
              <a:rPr>
                <a:solidFill>
                  <a:srgbClr val="003B4F"/>
                </a:solidFill>
                <a:latin typeface="Courier"/>
              </a:rPr>
              <a:t>)</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Briefly describe</a:t>
            </a:r>
          </a:p>
          <a:p>
            <a:pPr lvl="0"/>
            <a:r>
              <a:rPr/>
              <a:t>Briefly describe its structure with </a:t>
            </a:r>
            <a:r>
              <a:rPr>
                <a:latin typeface="Courier"/>
              </a:rPr>
              <a:t>summary()</a:t>
            </a:r>
            <a:r>
              <a:rPr/>
              <a:t>.</a:t>
            </a:r>
          </a:p>
          <a:p>
            <a:pPr lvl="0" indent="0">
              <a:buNone/>
            </a:pPr>
            <a:r>
              <a:rPr>
                <a:solidFill>
                  <a:srgbClr val="4758AB"/>
                </a:solidFill>
                <a:latin typeface="Courier"/>
              </a:rPr>
              <a:t>summary</a:t>
            </a:r>
            <a:r>
              <a:rPr>
                <a:solidFill>
                  <a:srgbClr val="003B4F"/>
                </a:solidFill>
                <a:latin typeface="Courier"/>
              </a:rPr>
              <a:t>(p)</a:t>
            </a:r>
          </a:p>
          <a:p>
            <a:pPr lvl="0" indent="0">
              <a:buNone/>
            </a:pPr>
            <a:r>
              <a:rPr>
                <a:latin typeface="Courier"/>
              </a:rPr>
              <a:t>data: manufacturer, model, displ, year, cyl, trans, drv, cty, hwy, fl,
  class [234x11]
mapping:  x = ~displ, y = ~hwy, colour = ~factor(cyl)
faceting: &lt;ggproto object: Class FacetNull, Facet, gg&gt;
    compute_layout: function
    draw_back: function
    draw_front: function
    draw_labels: function
    draw_panels: function
    finish_data: function
    init_scales: function
    map_data: function
    params: list
    setup_data: function
    setup_params: function
    shrink: TRUE
    train_scales: function
    vars: function
    super:  &lt;ggproto object: Class FacetNull, Facet, gg&gt;
-----------------------------------
geom_point: na.rm = FALSE
stat_identity: na.rm = FALSE
position_identity </a:t>
            </a:r>
          </a:p>
          <a:p>
            <a:pPr lvl="0" indent="0" marL="0">
              <a:buNone/>
            </a:pPr>
            <a:r>
              <a:rPr/>
              <a:t>You’ll learn more about how to manipulate these objects in Chapter 18.</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Acknowledgement</a:t>
            </a:r>
          </a:p>
        </p:txBody>
      </p:sp>
      <p:sp>
        <p:nvSpPr>
          <p:cNvPr id="3" name="Content Placeholder 2"/>
          <p:cNvSpPr>
            <a:spLocks noGrp="1"/>
          </p:cNvSpPr>
          <p:nvPr>
            <p:ph idx="1"/>
          </p:nvPr>
        </p:nvSpPr>
        <p:spPr/>
        <p:txBody>
          <a:bodyPr/>
          <a:lstStyle/>
          <a:p>
            <a:pPr lvl="0"/>
            <a:r>
              <a:rPr b="1"/>
              <a:t>Copyright notice.</a:t>
            </a:r>
            <a:r>
              <a:rPr/>
              <a:t> These teaching materials have been adapted from </a:t>
            </a:r>
            <a:r>
              <a:rPr b="1">
                <a:hlinkClick r:id="rId2"/>
              </a:rPr>
              <a:t>ggplot2: Elegant Graphics for Data Analysis (3e)</a:t>
            </a:r>
            <a:r>
              <a:rPr/>
              <a:t>. All rights are reserved by the original authors and publishers.</a:t>
            </a:r>
          </a:p>
          <a:p>
            <a:pPr lvl="0"/>
            <a:r>
              <a:rPr b="1"/>
              <a:t>Non-commercial use only.</a:t>
            </a:r>
            <a:r>
              <a:rPr/>
              <a:t> These materials are strictly intended for educational purposes and must not be used for commercial gain or profit.</a:t>
            </a:r>
          </a:p>
          <a:p>
            <a:pPr lvl="0"/>
            <a:r>
              <a:rPr b="1"/>
              <a:t>Proper attribution.</a:t>
            </a:r>
            <a:r>
              <a:rPr/>
              <a:t> Any reproduction, distribution, or use of these materials must provide proper attribution to the original source.</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Analysis</dc:title>
  <dc:creator>Yu-You Liou (NTU)</dc:creator>
  <cp:keywords/>
  <dcterms:created xsi:type="dcterms:W3CDTF">2025-10-01T05:16:47Z</dcterms:created>
  <dcterms:modified xsi:type="dcterms:W3CDTF">2025-10-01T05:16:47Z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ibliography">
    <vt:lpwstr>bib.bib</vt:lpwstr>
  </property>
  <property fmtid="{D5CDD505-2E9C-101B-9397-08002B2CF9AE}" pid="6" name="by-affiliation">
    <vt:lpwstr/>
  </property>
  <property fmtid="{D5CDD505-2E9C-101B-9397-08002B2CF9AE}" pid="7" name="by-author">
    <vt:lpwstr/>
  </property>
  <property fmtid="{D5CDD505-2E9C-101B-9397-08002B2CF9AE}" pid="8" name="date">
    <vt:lpwstr>2025-10-01</vt:lpwstr>
  </property>
  <property fmtid="{D5CDD505-2E9C-101B-9397-08002B2CF9AE}" pid="9" name="editor">
    <vt:lpwstr>source</vt:lpwstr>
  </property>
  <property fmtid="{D5CDD505-2E9C-101B-9397-08002B2CF9AE}" pid="10" name="footer">
    <vt:lpwstr>ggplot2: Elegant Graphics for Data Analysis</vt:lpwstr>
  </property>
  <property fmtid="{D5CDD505-2E9C-101B-9397-08002B2CF9AE}" pid="11" name="header-includes">
    <vt:lpwstr/>
  </property>
  <property fmtid="{D5CDD505-2E9C-101B-9397-08002B2CF9AE}" pid="12" name="include-after">
    <vt:lpwstr/>
  </property>
  <property fmtid="{D5CDD505-2E9C-101B-9397-08002B2CF9AE}" pid="13" name="include-before">
    <vt:lpwstr/>
  </property>
  <property fmtid="{D5CDD505-2E9C-101B-9397-08002B2CF9AE}" pid="14" name="institute">
    <vt:lpwstr>Shih Chien University</vt:lpwstr>
  </property>
  <property fmtid="{D5CDD505-2E9C-101B-9397-08002B2CF9AE}" pid="15" name="institutes">
    <vt:lpwstr/>
  </property>
  <property fmtid="{D5CDD505-2E9C-101B-9397-08002B2CF9AE}" pid="16" name="labels">
    <vt:lpwstr/>
  </property>
  <property fmtid="{D5CDD505-2E9C-101B-9397-08002B2CF9AE}" pid="17" name="logo">
    <vt:lpwstr>logo.svg</vt:lpwstr>
  </property>
  <property fmtid="{D5CDD505-2E9C-101B-9397-08002B2CF9AE}" pid="18" name="menu">
    <vt:lpwstr/>
  </property>
  <property fmtid="{D5CDD505-2E9C-101B-9397-08002B2CF9AE}" pid="19" name="scrollable">
    <vt:lpwstr>False</vt:lpwstr>
  </property>
  <property fmtid="{D5CDD505-2E9C-101B-9397-08002B2CF9AE}" pid="20" name="slide-number">
    <vt:lpwstr>True</vt:lpwstr>
  </property>
  <property fmtid="{D5CDD505-2E9C-101B-9397-08002B2CF9AE}" pid="21" name="smaller">
    <vt:lpwstr>True</vt:lpwstr>
  </property>
  <property fmtid="{D5CDD505-2E9C-101B-9397-08002B2CF9AE}" pid="22" name="subtitle">
    <vt:lpwstr>Chapter 2: First Steps</vt:lpwstr>
  </property>
  <property fmtid="{D5CDD505-2E9C-101B-9397-08002B2CF9AE}" pid="23" name="theme">
    <vt:lpwstr>serif</vt:lpwstr>
  </property>
  <property fmtid="{D5CDD505-2E9C-101B-9397-08002B2CF9AE}" pid="24" name="toc-title">
    <vt:lpwstr>Table of contents</vt:lpwstr>
  </property>
  <property fmtid="{D5CDD505-2E9C-101B-9397-08002B2CF9AE}" pid="25" name="transition">
    <vt:lpwstr>none</vt:lpwstr>
  </property>
</Properties>
</file>